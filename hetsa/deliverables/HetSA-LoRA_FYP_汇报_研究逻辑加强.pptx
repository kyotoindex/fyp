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今天要讲的是：设备能力不同、数据留在各端时，怎样让客户端共同训练，又保留各自需要的适配。先从微调和 LoRA 的基本原理讲起，再说明这个设计从哪些已有研究线索中来、我们怎样把它变成一个公平对照。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先把模型想成一个已经读过很多文字、但还没被要求完成这项具体工作的学生。BERT 的预训练阶段让它从大量普通文字里学习词语和上下文的关系。微调阶段再给它标好答案的新闻样本，让它学会把一条新闻放进世界、体育、商业、科技这四类。图里的概率是解释流程的示意值，不是实验结果。我们的实验使用 AG_NEWS 四分类和 BERT-base；配置见 configs/hetsa_lora_confirm_extension_v1.json。理论背景：Devlin et al., BERT, https://arxiv.org/abs/1810.04805。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这页只解释单条新闻的训练信号。正确答案是“体育”；如果模型给体育的概率只有 0.10，交叉熵损失是 -ln(0.10)=2.30。若它给到 0.70，损失变成 -ln(0.70)≈0.36。两个概率是为了讲解的示意数字，不是训练日志，也不表示每一步都会单调变好。优化器读取损失对参数的梯度，沿着较能降低损失的方向更新参数。公式 θ←θ−η∇θL 是最简化的梯度更新写法；本项目代码实际用 AdamW。交叉熵公式按单个样本写；代码对批次样本计算训练损失。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LoRA 的关键是把权重更新写成 ΔW=(α/r)BA。W0 是原来的预训练权重，训练时不改；A、B 是新加的可训练小矩阵。右侧用二维 rank-1 玩具例子手算。令 α/r=1，A=[1,0]，B=[0.4,0.1]^T，于是 BA=[[0.4,0],[0.1,0]]。输入 x=[2,1]^T 得到更新量 ΔWx=[0.8,0.2]^T。如果原矩阵 W0 是单位矩阵，输出从 [2,1] 变成 [2.8,1.2]。这不是实验中的真实权重，只用于说明如何影响输出。实际设置在 BERT-base 的 query 和 value 投影上用 rank 16、alpha 16；A 为 16×768，B 为 768×16。一个 768×768 投影矩阵若全量训练有 589,824 个参数；LoRA 两因子合计 24,576 个，约少 24 倍。来源：Hu et al., LoRA, https://arxiv.org/abs/2106.09685；实现见 src/fedhello_sst2.py 的 LoRALinear 定义与 configs/hetsa_lora_confirm_extension_v1.json。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先不考虑 LoRA 的具体因子，只看联邦学习的一轮：服务器把当前模型发给本轮客户端；每个客户端用自己的本地新闻训练；原始样本留在设备，客户端把模型更新传回服务器；服务器按规则汇总，再开始下一轮。图里的等权平均是帮助理解的简化公式。本项目后面会具体说明哪些参数共享、哪些留在本地。样本不集中上传可以减少原始数据传输，但它本身不等于差分隐私或正式的隐私保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联邦学习解决了训练样本不必集中上传的问题，但还没有回答两个具体问题：每台设备能训练模型的多少层，以及服务器应该平均哪些参数。我们的模拟有 20 个客户端，标签比例不同；客户端训练深度按资源档位固定为 6、9、12 层。训练样本保留在本地。研究目标不是要求低资源端跟高资源端做同样多的计算，而是在同一层预算下检验参数共享方式。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这个方案不是凭空提出的，也不能把共享 A、保留 B 说成本项目首创。FedSA-LoRA 已提出只聚合 A、把 B 留在客户端，并分析了两因子的作用差异；LEGEND 和 Fed-HeLLo 研究异构资源下的 LoRA 深度或层配置；2026 年的 FedAS-LoRA 研究根据客户端数据特征自适应选择共享 A 还是 B，说明不能先验地说 A 在所有场景一定最好。本项目采用 Share-A/Local-B 作为候选设计，再和同深度聚合 A+B 比较，贡献是当前资源设置下的受控实验结果。</a:t>
            </a:r>
          </a:p>
          <a:p>
            <a:endParaRPr/>
          </a:p>
          <a:p>
            <a:r>
              <a:t>来源：FedSA-LoRA https://arxiv.org/abs/2410.01463；LEGEND https://arxiv.org/abs/2412.20004；Fed-HeLLo https://arxiv.org/abs/2506.12213；FedAS-LoRA https://arxiv.org/abs/2608.09742。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把已有设计线索变成一个可以检验的问题：同样的 6、9、12 层预算、相同客户端数据划分、初始化、训练预算和每轮参与客户端下，客户端 B 参与服务器平均，还是保留在原设备，哪种客户端留出准确率更高？resource_depth 聚合 A 和 B；HetSA-LoRA 聚合 A，B 留本地。主要指标是第 26 至 30 轮客户端留出准确率平均。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每个被抽中的客户端都在本地更新 A 和 B。A 会上传到服务器求平均，再下发为下一轮的共享 A；B 不上传，保存在产生它的客户端。预测时，每台设备把共享 A 与自己的 B 一起使用。资源档位决定它训练最深的 6、9 或 12 层。矩阵 A、B 数学上相乘构成 LoRA 更新；“共享 A、保留 B”是本项目对因子的同步规则，不是说两个因子各自独立代表一整个模型。实现见 src/fedhello_sst2.py 的 LoRALinear 与 aggregate_models。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先看最直接的结果。HetSA-LoRA 的客户端末五轮平均准确率是 94.11%，同层聚合 A 和 B 的 resource_depth 是 82.23%。五个种子里的差值分别是 13.51、15.81、17.96、5.07 和 7.03 个百分点；平均提高 11.88 个百分点，五个种子都超过预先写下的 1 个百分点门槛。区间是按五个种子算的描述性 95% 区间，不把客户端或轮次当成独立重复。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这个对照把收益定位到因子共享方式：层预算本来就相同，所以这 11.88 个百分点不是深度分配单独带来的。另一个对照是全深度 FedSA-LoRA，它同样共享 A、保留本地 B。HetSA-LoRA 和它的本地精度差是负 0.17 个百分点，五种子区间跨过零；当前看不出精度优势。限制层深度后，累计训练时间少 42.5%，通信量少 37.1%。这显示的是接近的客户端精度和较低开销，不是精度更高。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还要区分客户端模型和服务器单独持有的模型。带共享 A 和各自私有 B 的客户端，末五轮本地留出均值是 94.11%。服务器只拿到平均 A、没有 B 时，第 30 轮完整评估均值是 25.48%，接近四分类的随机参考 25%。两个数字的评估口径不同，我把它们放在一起只为说明部署范围：方法效果依赖客户端保留自己的 B，服务器不能单独复现客户端模型。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A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E624347C-0880-459A-93CC-D8ADFAB84A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48A9A3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E3EE43-CC9A-4FFB-ADDC-6E170A3E3466}"/>
              </a:ext>
            </a:extLst>
          </p:cNvPr>
          <p:cNvSpPr>
            <a:spLocks noGrp="1"/>
          </p:cNvSpPr>
          <p:nvPr/>
        </p:nvSpPr>
        <p:spPr>
          <a:xfrm>
            <a:off x="647700" y="628650"/>
            <a:ext cx="647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9FD8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9FD8D2"/>
                </a:solidFill>
                <a:latin typeface="Microsoft YaHei"/>
                <a:ea typeface="Microsoft YaHei"/>
                <a:cs typeface="Microsoft YaHei"/>
              </a:rPr>
              <a:t>联邦学习</a:t>
            </a:r>
            <a:r>
              <a:rPr lang="zh-CN" altLang="en-US" sz="1350" b="1" dirty="0">
                <a:solidFill>
                  <a:srgbClr val="9FD8D2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350" b="1" dirty="0" err="1">
                <a:solidFill>
                  <a:srgbClr val="9FD8D2"/>
                </a:solidFill>
                <a:latin typeface="Microsoft YaHei"/>
                <a:ea typeface="Microsoft YaHei"/>
                <a:cs typeface="Microsoft YaHei"/>
              </a:rPr>
              <a:t>参数高效微调</a:t>
            </a:r>
            <a:endParaRPr sz="1350" b="1" dirty="0">
              <a:solidFill>
                <a:srgbClr val="9FD8D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FD2DCB-0671-4F03-BF30-7567DC73A539}"/>
              </a:ext>
            </a:extLst>
          </p:cNvPr>
          <p:cNvSpPr>
            <a:spLocks noGrp="1"/>
          </p:cNvSpPr>
          <p:nvPr/>
        </p:nvSpPr>
        <p:spPr>
          <a:xfrm>
            <a:off x="647700" y="1562100"/>
            <a:ext cx="6286500" cy="1638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8023"/>
          </a:bodyPr>
          <a:lstStyle/>
          <a:p>
            <a:pPr algn="l">
              <a:buNone/>
              <a:defRPr sz="4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设备能力不同，</a:t>
            </a:r>
          </a:p>
          <a:p>
            <a:pPr algn="l">
              <a:buNone/>
              <a:defRPr sz="4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联邦 LoRA 怎样做个性化？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094AE9-7368-4179-BB9F-4AEA8E46F8C8}"/>
              </a:ext>
            </a:extLst>
          </p:cNvPr>
          <p:cNvSpPr>
            <a:spLocks noGrp="1"/>
          </p:cNvSpPr>
          <p:nvPr/>
        </p:nvSpPr>
        <p:spPr>
          <a:xfrm>
            <a:off x="647700" y="3467100"/>
            <a:ext cx="61912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0">
                <a:solidFill>
                  <a:srgbClr val="D2DF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2DFE2"/>
                </a:solidFill>
                <a:latin typeface="Microsoft YaHei"/>
                <a:ea typeface="Microsoft YaHei"/>
                <a:cs typeface="Microsoft YaHei"/>
              </a:rPr>
              <a:t>从模型微调出发，</a:t>
            </a:r>
          </a:p>
          <a:p>
            <a:pPr algn="l">
              <a:buNone/>
              <a:defRPr sz="2025" b="0">
                <a:solidFill>
                  <a:srgbClr val="D2DF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2DFE2"/>
                </a:solidFill>
                <a:latin typeface="Microsoft YaHei"/>
                <a:ea typeface="Microsoft YaHei"/>
                <a:cs typeface="Microsoft YaHei"/>
              </a:rPr>
              <a:t>研究设备异构下的个性化学习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E1B9D0-CA21-422F-A3E7-3E520C9DFEB2}"/>
              </a:ext>
            </a:extLst>
          </p:cNvPr>
          <p:cNvSpPr>
            <a:spLocks noGrp="1"/>
          </p:cNvSpPr>
          <p:nvPr/>
        </p:nvSpPr>
        <p:spPr>
          <a:xfrm>
            <a:off x="7467600" y="876300"/>
            <a:ext cx="4057650" cy="4933950"/>
          </a:xfrm>
          <a:prstGeom prst="rect">
            <a:avLst/>
          </a:prstGeom>
          <a:solidFill>
            <a:srgbClr val="1A3A4A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F4367F-356D-4DAA-B9D0-26862FD0D2CB}"/>
              </a:ext>
            </a:extLst>
          </p:cNvPr>
          <p:cNvSpPr>
            <a:spLocks noGrp="1"/>
          </p:cNvSpPr>
          <p:nvPr/>
        </p:nvSpPr>
        <p:spPr>
          <a:xfrm>
            <a:off x="7772400" y="1104900"/>
            <a:ext cx="3429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这次想解决什么？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EB2DA9-2135-4469-8750-8265BE3FE762}"/>
              </a:ext>
            </a:extLst>
          </p:cNvPr>
          <p:cNvSpPr>
            <a:spLocks noGrp="1"/>
          </p:cNvSpPr>
          <p:nvPr/>
        </p:nvSpPr>
        <p:spPr>
          <a:xfrm>
            <a:off x="7772400" y="1533525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0">
                <a:solidFill>
                  <a:srgbClr val="B6C9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6C9CD"/>
                </a:solidFill>
                <a:latin typeface="Microsoft YaHei"/>
                <a:ea typeface="Microsoft YaHei"/>
                <a:cs typeface="Microsoft YaHei"/>
              </a:rPr>
              <a:t>不同设备能训练的部分不同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410EEEC-B581-42A5-8A1A-BAFD3B2FCA27}"/>
              </a:ext>
            </a:extLst>
          </p:cNvPr>
          <p:cNvSpPr>
            <a:spLocks noGrp="1"/>
          </p:cNvSpPr>
          <p:nvPr/>
        </p:nvSpPr>
        <p:spPr>
          <a:xfrm>
            <a:off x="7772400" y="1981200"/>
            <a:ext cx="3333750" cy="495300"/>
          </a:xfrm>
          <a:prstGeom prst="rect">
            <a:avLst/>
          </a:prstGeom>
          <a:solidFill>
            <a:srgbClr val="F6EACF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248E7F-08D9-4EAB-9ED2-5A088AFBEE3B}"/>
              </a:ext>
            </a:extLst>
          </p:cNvPr>
          <p:cNvSpPr>
            <a:spLocks noGrp="1"/>
          </p:cNvSpPr>
          <p:nvPr/>
        </p:nvSpPr>
        <p:spPr>
          <a:xfrm>
            <a:off x="7943850" y="2019300"/>
            <a:ext cx="29908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低资源客户端      较少计算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CBCE754-EDE0-4F08-867B-4176FBE6EBD1}"/>
              </a:ext>
            </a:extLst>
          </p:cNvPr>
          <p:cNvSpPr>
            <a:spLocks noGrp="1"/>
          </p:cNvSpPr>
          <p:nvPr/>
        </p:nvSpPr>
        <p:spPr>
          <a:xfrm>
            <a:off x="7772400" y="2609850"/>
            <a:ext cx="3333750" cy="495300"/>
          </a:xfrm>
          <a:prstGeom prst="rect">
            <a:avLst/>
          </a:prstGeom>
          <a:solidFill>
            <a:srgbClr val="E3EDF2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CF1A739-5375-41C8-95B9-9F87516859B8}"/>
              </a:ext>
            </a:extLst>
          </p:cNvPr>
          <p:cNvSpPr>
            <a:spLocks noGrp="1"/>
          </p:cNvSpPr>
          <p:nvPr/>
        </p:nvSpPr>
        <p:spPr>
          <a:xfrm>
            <a:off x="7943850" y="2647950"/>
            <a:ext cx="29908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中资源客户端      中等计算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55F699-57CE-4937-8A7E-BF6909E29C90}"/>
              </a:ext>
            </a:extLst>
          </p:cNvPr>
          <p:cNvSpPr>
            <a:spLocks noGrp="1"/>
          </p:cNvSpPr>
          <p:nvPr/>
        </p:nvSpPr>
        <p:spPr>
          <a:xfrm>
            <a:off x="7772400" y="3238500"/>
            <a:ext cx="3333750" cy="495300"/>
          </a:xfrm>
          <a:prstGeom prst="rect">
            <a:avLst/>
          </a:prstGeom>
          <a:solidFill>
            <a:srgbClr val="DCEFEB"/>
          </a:solidFill>
          <a:ln w="0"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B512FA-28D4-482A-8B35-5B496BFE2C9F}"/>
              </a:ext>
            </a:extLst>
          </p:cNvPr>
          <p:cNvSpPr>
            <a:spLocks noGrp="1"/>
          </p:cNvSpPr>
          <p:nvPr/>
        </p:nvSpPr>
        <p:spPr>
          <a:xfrm>
            <a:off x="7943850" y="3276600"/>
            <a:ext cx="29908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高资源客户端      较多计算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A67B2E3-782F-4541-9937-86257609E6B5}"/>
              </a:ext>
            </a:extLst>
          </p:cNvPr>
          <p:cNvSpPr>
            <a:spLocks noGrp="1"/>
          </p:cNvSpPr>
          <p:nvPr/>
        </p:nvSpPr>
        <p:spPr>
          <a:xfrm>
            <a:off x="7772400" y="3990975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1">
                <a:solidFill>
                  <a:srgbClr val="9FD8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FD8D2"/>
                </a:solidFill>
                <a:latin typeface="Microsoft YaHei"/>
                <a:ea typeface="Microsoft YaHei"/>
                <a:cs typeface="Microsoft YaHei"/>
              </a:rPr>
              <a:t>共同训练还要做选择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29E712D-04EF-4986-9CAC-C303660F3964}"/>
              </a:ext>
            </a:extLst>
          </p:cNvPr>
          <p:cNvSpPr>
            <a:spLocks noGrp="1"/>
          </p:cNvSpPr>
          <p:nvPr/>
        </p:nvSpPr>
        <p:spPr>
          <a:xfrm>
            <a:off x="7772400" y="4371975"/>
            <a:ext cx="1428750" cy="628650"/>
          </a:xfrm>
          <a:prstGeom prst="rect">
            <a:avLst/>
          </a:prstGeom>
          <a:solidFill>
            <a:srgbClr val="087F88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C68173C-8CE3-434C-A138-A6C9095B0E94}"/>
              </a:ext>
            </a:extLst>
          </p:cNvPr>
          <p:cNvSpPr>
            <a:spLocks noGrp="1"/>
          </p:cNvSpPr>
          <p:nvPr/>
        </p:nvSpPr>
        <p:spPr>
          <a:xfrm>
            <a:off x="7867650" y="4410075"/>
            <a:ext cx="1238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跨端协作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4BE2CB7-D3B9-4314-A151-ECD58D04BCF3}"/>
              </a:ext>
            </a:extLst>
          </p:cNvPr>
          <p:cNvSpPr>
            <a:spLocks noGrp="1"/>
          </p:cNvSpPr>
          <p:nvPr/>
        </p:nvSpPr>
        <p:spPr>
          <a:xfrm>
            <a:off x="9286875" y="4457700"/>
            <a:ext cx="2667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D346E3F-2526-48DB-A6F1-B0476D3B597D}"/>
              </a:ext>
            </a:extLst>
          </p:cNvPr>
          <p:cNvSpPr>
            <a:spLocks noGrp="1"/>
          </p:cNvSpPr>
          <p:nvPr/>
        </p:nvSpPr>
        <p:spPr>
          <a:xfrm>
            <a:off x="9639300" y="4371975"/>
            <a:ext cx="1466850" cy="628650"/>
          </a:xfrm>
          <a:prstGeom prst="rect">
            <a:avLst/>
          </a:prstGeom>
          <a:solidFill>
            <a:srgbClr val="D99D36"/>
          </a:solidFill>
          <a:ln w="0"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275540-A18F-4457-9D6E-7A39B5FEC2EF}"/>
              </a:ext>
            </a:extLst>
          </p:cNvPr>
          <p:cNvSpPr>
            <a:spLocks noGrp="1"/>
          </p:cNvSpPr>
          <p:nvPr/>
        </p:nvSpPr>
        <p:spPr>
          <a:xfrm>
            <a:off x="9734550" y="4410075"/>
            <a:ext cx="12763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本地适配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D7CFFF4-D5B1-42E6-A9C9-EB7EBCB2CAF6}"/>
              </a:ext>
            </a:extLst>
          </p:cNvPr>
          <p:cNvSpPr>
            <a:spLocks noGrp="1"/>
          </p:cNvSpPr>
          <p:nvPr/>
        </p:nvSpPr>
        <p:spPr>
          <a:xfrm>
            <a:off x="7772400" y="520065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D2DF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2DFE2"/>
                </a:solidFill>
                <a:latin typeface="Microsoft YaHei"/>
                <a:ea typeface="Microsoft YaHei"/>
                <a:cs typeface="Microsoft YaHei"/>
              </a:rPr>
              <a:t>共享多少，才能合作又保留个性？</a:t>
            </a:r>
          </a:p>
        </p:txBody>
      </p:sp>
    </p:spTree>
    <p:extLst>
      <p:ext uri="{BB962C8B-B14F-4D97-AF65-F5344CB8AC3E}">
        <p14:creationId xmlns:p14="http://schemas.microsoft.com/office/powerpoint/2010/main" val="914439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-background-2">
            <a:extLst>
              <a:ext uri="{FF2B5EF4-FFF2-40B4-BE49-F238E27FC236}">
                <a16:creationId xmlns:a16="http://schemas.microsoft.com/office/drawing/2014/main" id="{349B5BDF-799D-4168-9D03-270ABAE6F2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4EF"/>
          </a:solidFill>
          <a:ln w="0">
            <a:noFill/>
          </a:ln>
        </p:spPr>
      </p:sp>
      <p:sp>
        <p:nvSpPr>
          <p:cNvPr id="2" name="top-rule-2">
            <a:extLst>
              <a:ext uri="{FF2B5EF4-FFF2-40B4-BE49-F238E27FC236}">
                <a16:creationId xmlns:a16="http://schemas.microsoft.com/office/drawing/2014/main" id="{CDB9CCE6-B6FD-4270-BF05-335FF27A82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87F88"/>
          </a:solidFill>
          <a:ln w="0">
            <a:noFill/>
          </a:ln>
        </p:spPr>
      </p:sp>
      <p:sp>
        <p:nvSpPr>
          <p:cNvPr id="3" name="section-2">
            <a:extLst>
              <a:ext uri="{FF2B5EF4-FFF2-40B4-BE49-F238E27FC236}">
                <a16:creationId xmlns:a16="http://schemas.microsoft.com/office/drawing/2014/main" id="{6F5766A4-EF6C-41FA-974C-5925EAF0CD2A}"/>
              </a:ext>
            </a:extLst>
          </p:cNvPr>
          <p:cNvSpPr>
            <a:spLocks noGrp="1"/>
          </p:cNvSpPr>
          <p:nvPr/>
        </p:nvSpPr>
        <p:spPr>
          <a:xfrm>
            <a:off x="609600" y="19050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65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基础概念  ·  从预训练到微调</a:t>
            </a:r>
          </a:p>
        </p:txBody>
      </p:sp>
      <p:sp>
        <p:nvSpPr>
          <p:cNvPr id="4" name="title-2">
            <a:extLst>
              <a:ext uri="{FF2B5EF4-FFF2-40B4-BE49-F238E27FC236}">
                <a16:creationId xmlns:a16="http://schemas.microsoft.com/office/drawing/2014/main" id="{36452A8D-C45E-4283-B020-8ACA76EC60A9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先让模型读懂语言，再教它完成具体任务</a:t>
            </a:r>
          </a:p>
        </p:txBody>
      </p:sp>
      <p:sp>
        <p:nvSpPr>
          <p:cNvPr id="5" name="subtitle-2">
            <a:extLst>
              <a:ext uri="{FF2B5EF4-FFF2-40B4-BE49-F238E27FC236}">
                <a16:creationId xmlns:a16="http://schemas.microsoft.com/office/drawing/2014/main" id="{9F6248E4-9196-4872-8F00-9D4720DBFF0C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预训练学通用语言规律；微调用有答案的新闻样本教它做分类。</a:t>
            </a:r>
          </a:p>
        </p:txBody>
      </p:sp>
      <p:sp>
        <p:nvSpPr>
          <p:cNvPr id="6" name="footer-rule-2">
            <a:extLst>
              <a:ext uri="{FF2B5EF4-FFF2-40B4-BE49-F238E27FC236}">
                <a16:creationId xmlns:a16="http://schemas.microsoft.com/office/drawing/2014/main" id="{8CB08A0C-165F-45D8-9036-18F3C48FA059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9525"/>
          </a:xfrm>
          <a:prstGeom prst="rect">
            <a:avLst/>
          </a:prstGeom>
          <a:solidFill>
            <a:srgbClr val="D8DFDD"/>
          </a:solidFill>
          <a:ln w="0">
            <a:noFill/>
          </a:ln>
        </p:spPr>
      </p:sp>
      <p:sp>
        <p:nvSpPr>
          <p:cNvPr id="7" name="footer-label-2">
            <a:extLst>
              <a:ext uri="{FF2B5EF4-FFF2-40B4-BE49-F238E27FC236}">
                <a16:creationId xmlns:a16="http://schemas.microsoft.com/office/drawing/2014/main" id="{1E7390BD-6B88-4330-89B7-F85DEBBE8F3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联邦 LoRA 个性化  ·  HetSA-LoRA</a:t>
            </a:r>
          </a:p>
        </p:txBody>
      </p:sp>
      <p:sp>
        <p:nvSpPr>
          <p:cNvPr id="8" name="page-2">
            <a:extLst>
              <a:ext uri="{FF2B5EF4-FFF2-40B4-BE49-F238E27FC236}">
                <a16:creationId xmlns:a16="http://schemas.microsoft.com/office/drawing/2014/main" id="{F697910B-1169-4519-99D2-24C9518FF3B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r">
              <a:buNone/>
              <a:def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pretrain-panel">
            <a:extLst>
              <a:ext uri="{FF2B5EF4-FFF2-40B4-BE49-F238E27FC236}">
                <a16:creationId xmlns:a16="http://schemas.microsoft.com/office/drawing/2014/main" id="{C52C180B-E652-410D-B0A3-49E0050AAE00}"/>
              </a:ext>
            </a:extLst>
          </p:cNvPr>
          <p:cNvSpPr>
            <a:spLocks noGrp="1"/>
          </p:cNvSpPr>
          <p:nvPr/>
        </p:nvSpPr>
        <p:spPr>
          <a:xfrm>
            <a:off x="609600" y="1647825"/>
            <a:ext cx="4972050" cy="3800475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9525">
            <a:solidFill>
              <a:srgbClr val="D8DFDD"/>
            </a:solidFill>
            <a:prstDash val="solid"/>
          </a:ln>
        </p:spPr>
      </p:sp>
      <p:sp>
        <p:nvSpPr>
          <p:cNvPr id="10" name="finetune-panel">
            <a:extLst>
              <a:ext uri="{FF2B5EF4-FFF2-40B4-BE49-F238E27FC236}">
                <a16:creationId xmlns:a16="http://schemas.microsoft.com/office/drawing/2014/main" id="{3EF354EF-11A2-4CDA-B87D-358D315BBFB9}"/>
              </a:ext>
            </a:extLst>
          </p:cNvPr>
          <p:cNvSpPr>
            <a:spLocks noGrp="1"/>
          </p:cNvSpPr>
          <p:nvPr/>
        </p:nvSpPr>
        <p:spPr>
          <a:xfrm>
            <a:off x="6610350" y="1647825"/>
            <a:ext cx="4972050" cy="3800475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9525">
            <a:solidFill>
              <a:srgbClr val="D8DFDD"/>
            </a:solidFill>
            <a:prstDash val="solid"/>
          </a:ln>
        </p:spPr>
      </p:sp>
      <p:sp>
        <p:nvSpPr>
          <p:cNvPr id="11" name="pretrain-label-surface">
            <a:extLst>
              <a:ext uri="{FF2B5EF4-FFF2-40B4-BE49-F238E27FC236}">
                <a16:creationId xmlns:a16="http://schemas.microsoft.com/office/drawing/2014/main" id="{9E359601-F0B5-4C7B-830E-C563CA6209E1}"/>
              </a:ext>
            </a:extLst>
          </p:cNvPr>
          <p:cNvSpPr>
            <a:spLocks noGrp="1"/>
          </p:cNvSpPr>
          <p:nvPr/>
        </p:nvSpPr>
        <p:spPr>
          <a:xfrm>
            <a:off x="838200" y="1809750"/>
            <a:ext cx="1504950" cy="323850"/>
          </a:xfrm>
          <a:prstGeom prst="roundRect">
            <a:avLst>
              <a:gd name="adj" fmla="val 41176"/>
            </a:avLst>
          </a:prstGeom>
          <a:solidFill>
            <a:srgbClr val="EAF0F3"/>
          </a:solidFill>
          <a:ln w="9525">
            <a:solidFill>
              <a:srgbClr val="EAF0F3"/>
            </a:solidFill>
            <a:prstDash val="solid"/>
          </a:ln>
        </p:spPr>
      </p:sp>
      <p:sp>
        <p:nvSpPr>
          <p:cNvPr id="12" name="pretrain-label-text">
            <a:extLst>
              <a:ext uri="{FF2B5EF4-FFF2-40B4-BE49-F238E27FC236}">
                <a16:creationId xmlns:a16="http://schemas.microsoft.com/office/drawing/2014/main" id="{4BEFADAF-8EDE-4E78-ADF2-882E20FFE221}"/>
              </a:ext>
            </a:extLst>
          </p:cNvPr>
          <p:cNvSpPr>
            <a:spLocks noGrp="1"/>
          </p:cNvSpPr>
          <p:nvPr/>
        </p:nvSpPr>
        <p:spPr>
          <a:xfrm>
            <a:off x="904875" y="1819275"/>
            <a:ext cx="13716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200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rPr>
              <a:t>第一步  预训练</a:t>
            </a:r>
          </a:p>
        </p:txBody>
      </p:sp>
      <p:sp>
        <p:nvSpPr>
          <p:cNvPr id="13" name="pretrain-sub">
            <a:extLst>
              <a:ext uri="{FF2B5EF4-FFF2-40B4-BE49-F238E27FC236}">
                <a16:creationId xmlns:a16="http://schemas.microsoft.com/office/drawing/2014/main" id="{9F80F229-E65A-438F-B77E-82D8B9A64637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4343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8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读大量文字，学语言表示</a:t>
            </a:r>
          </a:p>
        </p:txBody>
      </p:sp>
      <p:sp>
        <p:nvSpPr>
          <p:cNvPr id="14" name="plain-text-1">
            <a:extLst>
              <a:ext uri="{FF2B5EF4-FFF2-40B4-BE49-F238E27FC236}">
                <a16:creationId xmlns:a16="http://schemas.microsoft.com/office/drawing/2014/main" id="{123A9E12-4A94-47A6-AA64-8DE403C43D51}"/>
              </a:ext>
            </a:extLst>
          </p:cNvPr>
          <p:cNvSpPr>
            <a:spLocks noGrp="1"/>
          </p:cNvSpPr>
          <p:nvPr/>
        </p:nvSpPr>
        <p:spPr>
          <a:xfrm>
            <a:off x="838200" y="2686050"/>
            <a:ext cx="4343400" cy="552450"/>
          </a:xfrm>
          <a:prstGeom prst="roundRect">
            <a:avLst>
              <a:gd name="adj" fmla="val 20690"/>
            </a:avLst>
          </a:prstGeom>
          <a:solidFill>
            <a:srgbClr val="EAF0F3"/>
          </a:solidFill>
          <a:ln w="9525">
            <a:solidFill>
              <a:srgbClr val="EAF0F3"/>
            </a:solidFill>
            <a:prstDash val="solid"/>
          </a:ln>
        </p:spPr>
      </p:sp>
      <p:sp>
        <p:nvSpPr>
          <p:cNvPr id="15" name="plain-text-1-label">
            <a:extLst>
              <a:ext uri="{FF2B5EF4-FFF2-40B4-BE49-F238E27FC236}">
                <a16:creationId xmlns:a16="http://schemas.microsoft.com/office/drawing/2014/main" id="{AB09DAEF-5FDF-4264-98E1-E5FBE840FD65}"/>
              </a:ext>
            </a:extLst>
          </p:cNvPr>
          <p:cNvSpPr>
            <a:spLocks noGrp="1"/>
          </p:cNvSpPr>
          <p:nvPr/>
        </p:nvSpPr>
        <p:spPr>
          <a:xfrm>
            <a:off x="971550" y="2733675"/>
            <a:ext cx="40767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500" b="0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rPr>
              <a:t>普通文字：球队在决赛中取得胜利。</a:t>
            </a:r>
          </a:p>
        </p:txBody>
      </p:sp>
      <p:sp>
        <p:nvSpPr>
          <p:cNvPr id="16" name="plain-text-2">
            <a:extLst>
              <a:ext uri="{FF2B5EF4-FFF2-40B4-BE49-F238E27FC236}">
                <a16:creationId xmlns:a16="http://schemas.microsoft.com/office/drawing/2014/main" id="{71D50C47-9154-4944-82AE-E07E0FE9D12C}"/>
              </a:ext>
            </a:extLst>
          </p:cNvPr>
          <p:cNvSpPr>
            <a:spLocks noGrp="1"/>
          </p:cNvSpPr>
          <p:nvPr/>
        </p:nvSpPr>
        <p:spPr>
          <a:xfrm>
            <a:off x="838200" y="3314700"/>
            <a:ext cx="4343400" cy="552450"/>
          </a:xfrm>
          <a:prstGeom prst="roundRect">
            <a:avLst>
              <a:gd name="adj" fmla="val 20690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</p:sp>
      <p:sp>
        <p:nvSpPr>
          <p:cNvPr id="17" name="plain-text-2-label">
            <a:extLst>
              <a:ext uri="{FF2B5EF4-FFF2-40B4-BE49-F238E27FC236}">
                <a16:creationId xmlns:a16="http://schemas.microsoft.com/office/drawing/2014/main" id="{D20ADC9A-C5A0-4F21-8B25-9D3B87F42B6F}"/>
              </a:ext>
            </a:extLst>
          </p:cNvPr>
          <p:cNvSpPr>
            <a:spLocks noGrp="1"/>
          </p:cNvSpPr>
          <p:nvPr/>
        </p:nvSpPr>
        <p:spPr>
          <a:xfrm>
            <a:off x="971550" y="3362325"/>
            <a:ext cx="40767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500" b="0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rPr>
              <a:t>普通文字：新款芯片将于下月发布。</a:t>
            </a:r>
          </a:p>
        </p:txBody>
      </p:sp>
      <p:sp>
        <p:nvSpPr>
          <p:cNvPr id="18" name="pretrain-model">
            <a:extLst>
              <a:ext uri="{FF2B5EF4-FFF2-40B4-BE49-F238E27FC236}">
                <a16:creationId xmlns:a16="http://schemas.microsoft.com/office/drawing/2014/main" id="{584B3EA7-ECCA-4247-B84A-DAEB8D5830E2}"/>
              </a:ext>
            </a:extLst>
          </p:cNvPr>
          <p:cNvSpPr>
            <a:spLocks noGrp="1"/>
          </p:cNvSpPr>
          <p:nvPr/>
        </p:nvSpPr>
        <p:spPr>
          <a:xfrm>
            <a:off x="1695450" y="4048125"/>
            <a:ext cx="2609850" cy="704850"/>
          </a:xfrm>
          <a:prstGeom prst="roundRect">
            <a:avLst>
              <a:gd name="adj" fmla="val 20270"/>
            </a:avLst>
          </a:prstGeom>
          <a:solidFill>
            <a:srgbClr val="E6F2F0"/>
          </a:solidFill>
          <a:ln w="9525">
            <a:solidFill>
              <a:srgbClr val="087F88"/>
            </a:solidFill>
            <a:prstDash val="solid"/>
          </a:ln>
        </p:spPr>
      </p:sp>
      <p:sp>
        <p:nvSpPr>
          <p:cNvPr id="19" name="pretrain-model-label">
            <a:extLst>
              <a:ext uri="{FF2B5EF4-FFF2-40B4-BE49-F238E27FC236}">
                <a16:creationId xmlns:a16="http://schemas.microsoft.com/office/drawing/2014/main" id="{76FF81C5-98FA-4DA8-A82F-6AD18DA32D0A}"/>
              </a:ext>
            </a:extLst>
          </p:cNvPr>
          <p:cNvSpPr>
            <a:spLocks noGrp="1"/>
          </p:cNvSpPr>
          <p:nvPr/>
        </p:nvSpPr>
        <p:spPr>
          <a:xfrm>
            <a:off x="1847850" y="4095750"/>
            <a:ext cx="23050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7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BERT</a:t>
            </a:r>
          </a:p>
          <a:p>
            <a:pPr algn="ctr">
              <a:buNone/>
              <a:defRPr sz="17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学词语与上下文</a:t>
            </a:r>
          </a:p>
        </p:txBody>
      </p:sp>
      <p:sp>
        <p:nvSpPr>
          <p:cNvPr id="20" name="pretrain-bottom">
            <a:extLst>
              <a:ext uri="{FF2B5EF4-FFF2-40B4-BE49-F238E27FC236}">
                <a16:creationId xmlns:a16="http://schemas.microsoft.com/office/drawing/2014/main" id="{0B2FCB84-172F-42EB-BF76-9DBDBB9D18D7}"/>
              </a:ext>
            </a:extLst>
          </p:cNvPr>
          <p:cNvSpPr>
            <a:spLocks noGrp="1"/>
          </p:cNvSpPr>
          <p:nvPr/>
        </p:nvSpPr>
        <p:spPr>
          <a:xfrm>
            <a:off x="838200" y="4914900"/>
            <a:ext cx="43434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27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此时还没有指定“新闻分类”任务</a:t>
            </a:r>
          </a:p>
        </p:txBody>
      </p:sp>
      <p:sp>
        <p:nvSpPr>
          <p:cNvPr id="21" name="stage-arrow">
            <a:extLst>
              <a:ext uri="{FF2B5EF4-FFF2-40B4-BE49-F238E27FC236}">
                <a16:creationId xmlns:a16="http://schemas.microsoft.com/office/drawing/2014/main" id="{07126DAB-35B0-4B1E-86D4-3478FED87E2B}"/>
              </a:ext>
            </a:extLst>
          </p:cNvPr>
          <p:cNvSpPr>
            <a:spLocks noGrp="1"/>
          </p:cNvSpPr>
          <p:nvPr/>
        </p:nvSpPr>
        <p:spPr>
          <a:xfrm>
            <a:off x="5753100" y="3000375"/>
            <a:ext cx="5905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 fontScale="99206"/>
          </a:bodyPr>
          <a:lstStyle/>
          <a:p>
            <a:pPr algn="ctr">
              <a:buNone/>
              <a:defRPr sz="3150" b="1">
                <a:solidFill>
                  <a:srgbClr val="D99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D99D36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finetune-label-surface">
            <a:extLst>
              <a:ext uri="{FF2B5EF4-FFF2-40B4-BE49-F238E27FC236}">
                <a16:creationId xmlns:a16="http://schemas.microsoft.com/office/drawing/2014/main" id="{5941FF5E-E101-4FC9-8648-A02534EAE707}"/>
              </a:ext>
            </a:extLst>
          </p:cNvPr>
          <p:cNvSpPr>
            <a:spLocks noGrp="1"/>
          </p:cNvSpPr>
          <p:nvPr/>
        </p:nvSpPr>
        <p:spPr>
          <a:xfrm>
            <a:off x="6838950" y="1809750"/>
            <a:ext cx="1504950" cy="323850"/>
          </a:xfrm>
          <a:prstGeom prst="roundRect">
            <a:avLst>
              <a:gd name="adj" fmla="val 41176"/>
            </a:avLst>
          </a:prstGeom>
          <a:solidFill>
            <a:srgbClr val="E6F2F0"/>
          </a:solidFill>
          <a:ln w="9525">
            <a:solidFill>
              <a:srgbClr val="E6F2F0"/>
            </a:solidFill>
            <a:prstDash val="solid"/>
          </a:ln>
        </p:spPr>
      </p:sp>
      <p:sp>
        <p:nvSpPr>
          <p:cNvPr id="23" name="finetune-label-text">
            <a:extLst>
              <a:ext uri="{FF2B5EF4-FFF2-40B4-BE49-F238E27FC236}">
                <a16:creationId xmlns:a16="http://schemas.microsoft.com/office/drawing/2014/main" id="{F01DDAE6-C323-4861-A42B-7ECDE5B8F427}"/>
              </a:ext>
            </a:extLst>
          </p:cNvPr>
          <p:cNvSpPr>
            <a:spLocks noGrp="1"/>
          </p:cNvSpPr>
          <p:nvPr/>
        </p:nvSpPr>
        <p:spPr>
          <a:xfrm>
            <a:off x="6905625" y="1819275"/>
            <a:ext cx="13716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20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第二步  微调</a:t>
            </a:r>
          </a:p>
        </p:txBody>
      </p:sp>
      <p:sp>
        <p:nvSpPr>
          <p:cNvPr id="24" name="finetune-sub">
            <a:extLst>
              <a:ext uri="{FF2B5EF4-FFF2-40B4-BE49-F238E27FC236}">
                <a16:creationId xmlns:a16="http://schemas.microsoft.com/office/drawing/2014/main" id="{AB185FFA-F44B-4420-8F13-B24C02B05F49}"/>
              </a:ext>
            </a:extLst>
          </p:cNvPr>
          <p:cNvSpPr>
            <a:spLocks noGrp="1"/>
          </p:cNvSpPr>
          <p:nvPr/>
        </p:nvSpPr>
        <p:spPr>
          <a:xfrm>
            <a:off x="6838950" y="2228850"/>
            <a:ext cx="4343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8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用带答案的新闻学会四分类</a:t>
            </a:r>
          </a:p>
        </p:txBody>
      </p:sp>
      <p:sp>
        <p:nvSpPr>
          <p:cNvPr id="25" name="labeled-news">
            <a:extLst>
              <a:ext uri="{FF2B5EF4-FFF2-40B4-BE49-F238E27FC236}">
                <a16:creationId xmlns:a16="http://schemas.microsoft.com/office/drawing/2014/main" id="{555B0538-A35C-457A-B636-C4D5DA5FED69}"/>
              </a:ext>
            </a:extLst>
          </p:cNvPr>
          <p:cNvSpPr>
            <a:spLocks noGrp="1"/>
          </p:cNvSpPr>
          <p:nvPr/>
        </p:nvSpPr>
        <p:spPr>
          <a:xfrm>
            <a:off x="6838950" y="2686050"/>
            <a:ext cx="2057400" cy="895350"/>
          </a:xfrm>
          <a:prstGeom prst="roundRect">
            <a:avLst>
              <a:gd name="adj" fmla="val 13830"/>
            </a:avLst>
          </a:prstGeom>
          <a:solidFill>
            <a:srgbClr val="F8F0DE"/>
          </a:solidFill>
          <a:ln w="9525">
            <a:solidFill>
              <a:srgbClr val="F8F0DE"/>
            </a:solidFill>
            <a:prstDash val="solid"/>
          </a:ln>
        </p:spPr>
      </p:sp>
      <p:sp>
        <p:nvSpPr>
          <p:cNvPr id="26" name="labeled-news-label">
            <a:extLst>
              <a:ext uri="{FF2B5EF4-FFF2-40B4-BE49-F238E27FC236}">
                <a16:creationId xmlns:a16="http://schemas.microsoft.com/office/drawing/2014/main" id="{9A98C68C-82C3-4092-A978-951A019E6725}"/>
              </a:ext>
            </a:extLst>
          </p:cNvPr>
          <p:cNvSpPr>
            <a:spLocks noGrp="1"/>
          </p:cNvSpPr>
          <p:nvPr/>
        </p:nvSpPr>
        <p:spPr>
          <a:xfrm>
            <a:off x="6962775" y="2752725"/>
            <a:ext cx="1809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0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rPr>
              <a:t>新闻：球队赢得决赛</a:t>
            </a:r>
          </a:p>
          <a:p>
            <a:pPr algn="l">
              <a:buNone/>
              <a:defRPr sz="1350" b="0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rPr>
              <a:t>正确答案：体育</a:t>
            </a:r>
          </a:p>
        </p:txBody>
      </p:sp>
      <p:sp>
        <p:nvSpPr>
          <p:cNvPr id="27" name="fine-arrow-1">
            <a:extLst>
              <a:ext uri="{FF2B5EF4-FFF2-40B4-BE49-F238E27FC236}">
                <a16:creationId xmlns:a16="http://schemas.microsoft.com/office/drawing/2014/main" id="{65AE0100-B3A6-4C92-9BB7-6DDA796F3C02}"/>
              </a:ext>
            </a:extLst>
          </p:cNvPr>
          <p:cNvSpPr>
            <a:spLocks noGrp="1"/>
          </p:cNvSpPr>
          <p:nvPr/>
        </p:nvSpPr>
        <p:spPr>
          <a:xfrm>
            <a:off x="8943975" y="2914650"/>
            <a:ext cx="381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21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fine-bert">
            <a:extLst>
              <a:ext uri="{FF2B5EF4-FFF2-40B4-BE49-F238E27FC236}">
                <a16:creationId xmlns:a16="http://schemas.microsoft.com/office/drawing/2014/main" id="{6BB2B036-4460-4AAE-9B54-8A61BE9D6C56}"/>
              </a:ext>
            </a:extLst>
          </p:cNvPr>
          <p:cNvSpPr>
            <a:spLocks noGrp="1"/>
          </p:cNvSpPr>
          <p:nvPr/>
        </p:nvSpPr>
        <p:spPr>
          <a:xfrm>
            <a:off x="9334500" y="2686050"/>
            <a:ext cx="876300" cy="895350"/>
          </a:xfrm>
          <a:prstGeom prst="roundRect">
            <a:avLst>
              <a:gd name="adj" fmla="val 14130"/>
            </a:avLst>
          </a:prstGeom>
          <a:solidFill>
            <a:srgbClr val="EAF0F3"/>
          </a:solidFill>
          <a:ln w="9525">
            <a:solidFill>
              <a:srgbClr val="EAF0F3"/>
            </a:solidFill>
            <a:prstDash val="solid"/>
          </a:ln>
        </p:spPr>
      </p:sp>
      <p:sp>
        <p:nvSpPr>
          <p:cNvPr id="29" name="fine-bert-label">
            <a:extLst>
              <a:ext uri="{FF2B5EF4-FFF2-40B4-BE49-F238E27FC236}">
                <a16:creationId xmlns:a16="http://schemas.microsoft.com/office/drawing/2014/main" id="{9F59680C-F8AF-4D03-887D-B15C6054FCB7}"/>
              </a:ext>
            </a:extLst>
          </p:cNvPr>
          <p:cNvSpPr>
            <a:spLocks noGrp="1"/>
          </p:cNvSpPr>
          <p:nvPr/>
        </p:nvSpPr>
        <p:spPr>
          <a:xfrm>
            <a:off x="9401175" y="2752725"/>
            <a:ext cx="7429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200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rPr>
              <a:t>BERT</a:t>
            </a:r>
          </a:p>
          <a:p>
            <a:pPr algn="ctr">
              <a:buNone/>
              <a:defRPr sz="1200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rPr>
              <a:t>读懂内容</a:t>
            </a:r>
          </a:p>
        </p:txBody>
      </p:sp>
      <p:sp>
        <p:nvSpPr>
          <p:cNvPr id="30" name="fine-arrow-2">
            <a:extLst>
              <a:ext uri="{FF2B5EF4-FFF2-40B4-BE49-F238E27FC236}">
                <a16:creationId xmlns:a16="http://schemas.microsoft.com/office/drawing/2014/main" id="{8FD880CF-DD5B-41A1-BF2E-4814B3D1E03C}"/>
              </a:ext>
            </a:extLst>
          </p:cNvPr>
          <p:cNvSpPr>
            <a:spLocks noGrp="1"/>
          </p:cNvSpPr>
          <p:nvPr/>
        </p:nvSpPr>
        <p:spPr>
          <a:xfrm>
            <a:off x="10229850" y="2914650"/>
            <a:ext cx="3333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20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classification-head">
            <a:extLst>
              <a:ext uri="{FF2B5EF4-FFF2-40B4-BE49-F238E27FC236}">
                <a16:creationId xmlns:a16="http://schemas.microsoft.com/office/drawing/2014/main" id="{E83EA944-7AA3-4FA9-8DA1-1CFFA0EE31A9}"/>
              </a:ext>
            </a:extLst>
          </p:cNvPr>
          <p:cNvSpPr>
            <a:spLocks noGrp="1"/>
          </p:cNvSpPr>
          <p:nvPr/>
        </p:nvSpPr>
        <p:spPr>
          <a:xfrm>
            <a:off x="10572750" y="2686050"/>
            <a:ext cx="781050" cy="895350"/>
          </a:xfrm>
          <a:prstGeom prst="roundRect">
            <a:avLst>
              <a:gd name="adj" fmla="val 15854"/>
            </a:avLst>
          </a:prstGeom>
          <a:solidFill>
            <a:srgbClr val="E6F2F0"/>
          </a:solidFill>
          <a:ln w="9525">
            <a:solidFill>
              <a:srgbClr val="E6F2F0"/>
            </a:solidFill>
            <a:prstDash val="solid"/>
          </a:ln>
        </p:spPr>
      </p:sp>
      <p:sp>
        <p:nvSpPr>
          <p:cNvPr id="32" name="classification-head-label">
            <a:extLst>
              <a:ext uri="{FF2B5EF4-FFF2-40B4-BE49-F238E27FC236}">
                <a16:creationId xmlns:a16="http://schemas.microsoft.com/office/drawing/2014/main" id="{0195F271-0C0C-4046-963B-5FDBBDDBC80B}"/>
              </a:ext>
            </a:extLst>
          </p:cNvPr>
          <p:cNvSpPr>
            <a:spLocks noGrp="1"/>
          </p:cNvSpPr>
          <p:nvPr/>
        </p:nvSpPr>
        <p:spPr>
          <a:xfrm>
            <a:off x="10610850" y="2752725"/>
            <a:ext cx="7048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20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分类</a:t>
            </a:r>
          </a:p>
          <a:p>
            <a:pPr algn="ctr">
              <a:buNone/>
              <a:defRPr sz="120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输出层</a:t>
            </a:r>
          </a:p>
        </p:txBody>
      </p:sp>
      <p:sp>
        <p:nvSpPr>
          <p:cNvPr id="33" name="probabilities-label">
            <a:extLst>
              <a:ext uri="{FF2B5EF4-FFF2-40B4-BE49-F238E27FC236}">
                <a16:creationId xmlns:a16="http://schemas.microsoft.com/office/drawing/2014/main" id="{6B36F643-D022-4EEA-A7D0-37FEDB4ABBF0}"/>
              </a:ext>
            </a:extLst>
          </p:cNvPr>
          <p:cNvSpPr>
            <a:spLocks noGrp="1"/>
          </p:cNvSpPr>
          <p:nvPr/>
        </p:nvSpPr>
        <p:spPr>
          <a:xfrm>
            <a:off x="6838950" y="3790950"/>
            <a:ext cx="434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200" b="1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四类预测概率（示意）</a:t>
            </a:r>
          </a:p>
        </p:txBody>
      </p:sp>
      <p:sp>
        <p:nvSpPr>
          <p:cNvPr id="34" name="class-0-surface">
            <a:extLst>
              <a:ext uri="{FF2B5EF4-FFF2-40B4-BE49-F238E27FC236}">
                <a16:creationId xmlns:a16="http://schemas.microsoft.com/office/drawing/2014/main" id="{10C9BB6A-F718-4C9E-9B21-CAF6B50FB591}"/>
              </a:ext>
            </a:extLst>
          </p:cNvPr>
          <p:cNvSpPr>
            <a:spLocks noGrp="1"/>
          </p:cNvSpPr>
          <p:nvPr/>
        </p:nvSpPr>
        <p:spPr>
          <a:xfrm>
            <a:off x="6838950" y="4152900"/>
            <a:ext cx="990600" cy="323850"/>
          </a:xfrm>
          <a:prstGeom prst="roundRect">
            <a:avLst>
              <a:gd name="adj" fmla="val 41176"/>
            </a:avLst>
          </a:prstGeom>
          <a:solidFill>
            <a:srgbClr val="EAF0F3"/>
          </a:solidFill>
          <a:ln w="9525">
            <a:solidFill>
              <a:srgbClr val="EAF0F3"/>
            </a:solidFill>
            <a:prstDash val="solid"/>
          </a:ln>
        </p:spPr>
      </p:sp>
      <p:sp>
        <p:nvSpPr>
          <p:cNvPr id="35" name="class-0-text">
            <a:extLst>
              <a:ext uri="{FF2B5EF4-FFF2-40B4-BE49-F238E27FC236}">
                <a16:creationId xmlns:a16="http://schemas.microsoft.com/office/drawing/2014/main" id="{1B949A36-9452-44F7-915D-0F160F234121}"/>
              </a:ext>
            </a:extLst>
          </p:cNvPr>
          <p:cNvSpPr>
            <a:spLocks noGrp="1"/>
          </p:cNvSpPr>
          <p:nvPr/>
        </p:nvSpPr>
        <p:spPr>
          <a:xfrm>
            <a:off x="6905625" y="4162425"/>
            <a:ext cx="857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200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rPr>
              <a:t>世界  0.08</a:t>
            </a:r>
          </a:p>
        </p:txBody>
      </p:sp>
      <p:sp>
        <p:nvSpPr>
          <p:cNvPr id="36" name="class-1-surface">
            <a:extLst>
              <a:ext uri="{FF2B5EF4-FFF2-40B4-BE49-F238E27FC236}">
                <a16:creationId xmlns:a16="http://schemas.microsoft.com/office/drawing/2014/main" id="{B9C119AC-BA0B-4AF8-A942-300B2D6D648D}"/>
              </a:ext>
            </a:extLst>
          </p:cNvPr>
          <p:cNvSpPr>
            <a:spLocks noGrp="1"/>
          </p:cNvSpPr>
          <p:nvPr/>
        </p:nvSpPr>
        <p:spPr>
          <a:xfrm>
            <a:off x="7924800" y="4152900"/>
            <a:ext cx="990600" cy="323850"/>
          </a:xfrm>
          <a:prstGeom prst="roundRect">
            <a:avLst>
              <a:gd name="adj" fmla="val 41176"/>
            </a:avLst>
          </a:prstGeom>
          <a:solidFill>
            <a:srgbClr val="E6F2F0"/>
          </a:solidFill>
          <a:ln w="9525">
            <a:solidFill>
              <a:srgbClr val="E6F2F0"/>
            </a:solidFill>
            <a:prstDash val="solid"/>
          </a:ln>
        </p:spPr>
      </p:sp>
      <p:sp>
        <p:nvSpPr>
          <p:cNvPr id="37" name="class-1-text">
            <a:extLst>
              <a:ext uri="{FF2B5EF4-FFF2-40B4-BE49-F238E27FC236}">
                <a16:creationId xmlns:a16="http://schemas.microsoft.com/office/drawing/2014/main" id="{2EFB8F81-00B2-4D6A-ADC0-3681E6934249}"/>
              </a:ext>
            </a:extLst>
          </p:cNvPr>
          <p:cNvSpPr>
            <a:spLocks noGrp="1"/>
          </p:cNvSpPr>
          <p:nvPr/>
        </p:nvSpPr>
        <p:spPr>
          <a:xfrm>
            <a:off x="7991475" y="4162425"/>
            <a:ext cx="857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20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体育  0.68</a:t>
            </a:r>
          </a:p>
        </p:txBody>
      </p:sp>
      <p:sp>
        <p:nvSpPr>
          <p:cNvPr id="38" name="class-2-surface">
            <a:extLst>
              <a:ext uri="{FF2B5EF4-FFF2-40B4-BE49-F238E27FC236}">
                <a16:creationId xmlns:a16="http://schemas.microsoft.com/office/drawing/2014/main" id="{890F368F-1A67-49A5-9996-25F66EC40653}"/>
              </a:ext>
            </a:extLst>
          </p:cNvPr>
          <p:cNvSpPr>
            <a:spLocks noGrp="1"/>
          </p:cNvSpPr>
          <p:nvPr/>
        </p:nvSpPr>
        <p:spPr>
          <a:xfrm>
            <a:off x="9010650" y="4152900"/>
            <a:ext cx="990600" cy="323850"/>
          </a:xfrm>
          <a:prstGeom prst="roundRect">
            <a:avLst>
              <a:gd name="adj" fmla="val 41176"/>
            </a:avLst>
          </a:prstGeom>
          <a:solidFill>
            <a:srgbClr val="F8F0DE"/>
          </a:solidFill>
          <a:ln w="9525">
            <a:solidFill>
              <a:srgbClr val="F8F0DE"/>
            </a:solidFill>
            <a:prstDash val="solid"/>
          </a:ln>
        </p:spPr>
      </p:sp>
      <p:sp>
        <p:nvSpPr>
          <p:cNvPr id="39" name="class-2-text">
            <a:extLst>
              <a:ext uri="{FF2B5EF4-FFF2-40B4-BE49-F238E27FC236}">
                <a16:creationId xmlns:a16="http://schemas.microsoft.com/office/drawing/2014/main" id="{74FDC2B0-D528-4FDB-B374-58CE59B8FFD5}"/>
              </a:ext>
            </a:extLst>
          </p:cNvPr>
          <p:cNvSpPr>
            <a:spLocks noGrp="1"/>
          </p:cNvSpPr>
          <p:nvPr/>
        </p:nvSpPr>
        <p:spPr>
          <a:xfrm>
            <a:off x="9077325" y="4162425"/>
            <a:ext cx="857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商业  0.10</a:t>
            </a:r>
          </a:p>
        </p:txBody>
      </p:sp>
      <p:sp>
        <p:nvSpPr>
          <p:cNvPr id="40" name="class-3-surface">
            <a:extLst>
              <a:ext uri="{FF2B5EF4-FFF2-40B4-BE49-F238E27FC236}">
                <a16:creationId xmlns:a16="http://schemas.microsoft.com/office/drawing/2014/main" id="{49A49E7E-94CA-4175-A4FF-9205CEAF91B7}"/>
              </a:ext>
            </a:extLst>
          </p:cNvPr>
          <p:cNvSpPr>
            <a:spLocks noGrp="1"/>
          </p:cNvSpPr>
          <p:nvPr/>
        </p:nvSpPr>
        <p:spPr>
          <a:xfrm>
            <a:off x="10096500" y="4152900"/>
            <a:ext cx="990600" cy="323850"/>
          </a:xfrm>
          <a:prstGeom prst="roundRect">
            <a:avLst>
              <a:gd name="adj" fmla="val 41176"/>
            </a:avLst>
          </a:prstGeom>
          <a:solidFill>
            <a:srgbClr val="F6ECE6"/>
          </a:solidFill>
          <a:ln w="9525">
            <a:solidFill>
              <a:srgbClr val="F6ECE6"/>
            </a:solidFill>
            <a:prstDash val="solid"/>
          </a:ln>
        </p:spPr>
      </p:sp>
      <p:sp>
        <p:nvSpPr>
          <p:cNvPr id="41" name="class-3-text">
            <a:extLst>
              <a:ext uri="{FF2B5EF4-FFF2-40B4-BE49-F238E27FC236}">
                <a16:creationId xmlns:a16="http://schemas.microsoft.com/office/drawing/2014/main" id="{B8EA650E-4653-49FD-9452-E9BD75B75AC5}"/>
              </a:ext>
            </a:extLst>
          </p:cNvPr>
          <p:cNvSpPr>
            <a:spLocks noGrp="1"/>
          </p:cNvSpPr>
          <p:nvPr/>
        </p:nvSpPr>
        <p:spPr>
          <a:xfrm>
            <a:off x="10163175" y="4162425"/>
            <a:ext cx="857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200" b="1">
                <a:solidFill>
                  <a:srgbClr val="B96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684E"/>
                </a:solidFill>
                <a:latin typeface="Microsoft YaHei"/>
                <a:ea typeface="Microsoft YaHei"/>
                <a:cs typeface="Microsoft YaHei"/>
              </a:rPr>
              <a:t>科技  0.14</a:t>
            </a:r>
          </a:p>
        </p:txBody>
      </p:sp>
      <p:sp>
        <p:nvSpPr>
          <p:cNvPr id="42" name="fine-tune-explainer">
            <a:extLst>
              <a:ext uri="{FF2B5EF4-FFF2-40B4-BE49-F238E27FC236}">
                <a16:creationId xmlns:a16="http://schemas.microsoft.com/office/drawing/2014/main" id="{991A5972-9785-4F9F-B0C9-8358224865F2}"/>
              </a:ext>
            </a:extLst>
          </p:cNvPr>
          <p:cNvSpPr>
            <a:spLocks noGrp="1"/>
          </p:cNvSpPr>
          <p:nvPr/>
        </p:nvSpPr>
        <p:spPr>
          <a:xfrm>
            <a:off x="6838950" y="4638675"/>
            <a:ext cx="43434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rPr>
              <a:t>用真实标签纠正预测；反复训练，模型逐渐学会分类。</a:t>
            </a:r>
          </a:p>
        </p:txBody>
      </p:sp>
      <p:sp>
        <p:nvSpPr>
          <p:cNvPr id="43" name="definition-strip">
            <a:extLst>
              <a:ext uri="{FF2B5EF4-FFF2-40B4-BE49-F238E27FC236}">
                <a16:creationId xmlns:a16="http://schemas.microsoft.com/office/drawing/2014/main" id="{BFB256FE-63C8-4111-BC1F-D06AFF0996ED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495300"/>
          </a:xfrm>
          <a:prstGeom prst="roundRect">
            <a:avLst>
              <a:gd name="adj" fmla="val 26923"/>
            </a:avLst>
          </a:prstGeom>
          <a:solidFill>
            <a:srgbClr val="E6F2F0"/>
          </a:solidFill>
          <a:ln w="9525">
            <a:solidFill>
              <a:srgbClr val="E6F2F0"/>
            </a:solidFill>
            <a:prstDash val="solid"/>
          </a:ln>
        </p:spPr>
      </p:sp>
      <p:sp>
        <p:nvSpPr>
          <p:cNvPr id="44" name="definition-text">
            <a:extLst>
              <a:ext uri="{FF2B5EF4-FFF2-40B4-BE49-F238E27FC236}">
                <a16:creationId xmlns:a16="http://schemas.microsoft.com/office/drawing/2014/main" id="{6578E556-1244-4B78-90BF-2BB0FEC9E0B1}"/>
              </a:ext>
            </a:extLst>
          </p:cNvPr>
          <p:cNvSpPr>
            <a:spLocks noGrp="1"/>
          </p:cNvSpPr>
          <p:nvPr/>
        </p:nvSpPr>
        <p:spPr>
          <a:xfrm>
            <a:off x="800100" y="5676900"/>
            <a:ext cx="10591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5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微调 = 保留预训练学到的基础，再用目标任务的标注样本继续训练。</a:t>
            </a:r>
          </a:p>
        </p:txBody>
      </p:sp>
    </p:spTree>
    <p:extLst>
      <p:ext uri="{BB962C8B-B14F-4D97-AF65-F5344CB8AC3E}">
        <p14:creationId xmlns:p14="http://schemas.microsoft.com/office/powerpoint/2010/main" val="1674386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-background-3">
            <a:extLst>
              <a:ext uri="{FF2B5EF4-FFF2-40B4-BE49-F238E27FC236}">
                <a16:creationId xmlns:a16="http://schemas.microsoft.com/office/drawing/2014/main" id="{3AF0E408-8E9A-4F61-9CCC-F93E10EF0C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4EF"/>
          </a:solidFill>
          <a:ln w="0">
            <a:noFill/>
          </a:ln>
        </p:spPr>
      </p:sp>
      <p:sp>
        <p:nvSpPr>
          <p:cNvPr id="2" name="top-rule-3">
            <a:extLst>
              <a:ext uri="{FF2B5EF4-FFF2-40B4-BE49-F238E27FC236}">
                <a16:creationId xmlns:a16="http://schemas.microsoft.com/office/drawing/2014/main" id="{CF773E66-04A4-4997-8537-83F445FE98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87F88"/>
          </a:solidFill>
          <a:ln w="0">
            <a:noFill/>
          </a:ln>
        </p:spPr>
      </p:sp>
      <p:sp>
        <p:nvSpPr>
          <p:cNvPr id="3" name="section-3">
            <a:extLst>
              <a:ext uri="{FF2B5EF4-FFF2-40B4-BE49-F238E27FC236}">
                <a16:creationId xmlns:a16="http://schemas.microsoft.com/office/drawing/2014/main" id="{9A0EEB28-D873-4A73-9463-BF40332B2BF1}"/>
              </a:ext>
            </a:extLst>
          </p:cNvPr>
          <p:cNvSpPr>
            <a:spLocks noGrp="1"/>
          </p:cNvSpPr>
          <p:nvPr/>
        </p:nvSpPr>
        <p:spPr>
          <a:xfrm>
            <a:off x="609600" y="19050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65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基础概念  ·  训练如何改模型</a:t>
            </a:r>
          </a:p>
        </p:txBody>
      </p:sp>
      <p:sp>
        <p:nvSpPr>
          <p:cNvPr id="4" name="title-3">
            <a:extLst>
              <a:ext uri="{FF2B5EF4-FFF2-40B4-BE49-F238E27FC236}">
                <a16:creationId xmlns:a16="http://schemas.microsoft.com/office/drawing/2014/main" id="{99E155E3-F751-4EDB-AC54-222F8B401E37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模型怎样知道自己猜错了？看真实答案的概率</a:t>
            </a:r>
          </a:p>
        </p:txBody>
      </p:sp>
      <p:sp>
        <p:nvSpPr>
          <p:cNvPr id="5" name="subtitle-3">
            <a:extLst>
              <a:ext uri="{FF2B5EF4-FFF2-40B4-BE49-F238E27FC236}">
                <a16:creationId xmlns:a16="http://schemas.microsoft.com/office/drawing/2014/main" id="{6313D0EC-8FD5-4A5C-BB86-BDD92B8DFEB2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损失把一次预测的好坏变成数字；训练反复调整参数，争取让损失下降。</a:t>
            </a:r>
          </a:p>
        </p:txBody>
      </p:sp>
      <p:sp>
        <p:nvSpPr>
          <p:cNvPr id="6" name="footer-rule-3">
            <a:extLst>
              <a:ext uri="{FF2B5EF4-FFF2-40B4-BE49-F238E27FC236}">
                <a16:creationId xmlns:a16="http://schemas.microsoft.com/office/drawing/2014/main" id="{227FB493-8E0A-45A3-A292-B0DBE0A5F01F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9525"/>
          </a:xfrm>
          <a:prstGeom prst="rect">
            <a:avLst/>
          </a:prstGeom>
          <a:solidFill>
            <a:srgbClr val="D8DFDD"/>
          </a:solidFill>
          <a:ln w="0">
            <a:noFill/>
          </a:ln>
        </p:spPr>
      </p:sp>
      <p:sp>
        <p:nvSpPr>
          <p:cNvPr id="7" name="footer-label-3">
            <a:extLst>
              <a:ext uri="{FF2B5EF4-FFF2-40B4-BE49-F238E27FC236}">
                <a16:creationId xmlns:a16="http://schemas.microsoft.com/office/drawing/2014/main" id="{7A80755F-2900-4A9A-AB01-A65CC90427A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联邦 LoRA 个性化  ·  HetSA-LoRA</a:t>
            </a:r>
          </a:p>
        </p:txBody>
      </p:sp>
      <p:sp>
        <p:nvSpPr>
          <p:cNvPr id="8" name="page-3">
            <a:extLst>
              <a:ext uri="{FF2B5EF4-FFF2-40B4-BE49-F238E27FC236}">
                <a16:creationId xmlns:a16="http://schemas.microsoft.com/office/drawing/2014/main" id="{0ADEB85D-A480-4E9C-A893-56D854B109D8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r">
              <a:buNone/>
              <a:def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loss-example-card">
            <a:extLst>
              <a:ext uri="{FF2B5EF4-FFF2-40B4-BE49-F238E27FC236}">
                <a16:creationId xmlns:a16="http://schemas.microsoft.com/office/drawing/2014/main" id="{04A53996-613C-4035-A725-D014E63F969E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3352800" cy="4095750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9525">
            <a:solidFill>
              <a:srgbClr val="D8DFDD"/>
            </a:solidFill>
            <a:prstDash val="solid"/>
          </a:ln>
        </p:spPr>
      </p:sp>
      <p:sp>
        <p:nvSpPr>
          <p:cNvPr id="10" name="loss-example-tag-surface">
            <a:extLst>
              <a:ext uri="{FF2B5EF4-FFF2-40B4-BE49-F238E27FC236}">
                <a16:creationId xmlns:a16="http://schemas.microsoft.com/office/drawing/2014/main" id="{84855F2B-82D6-4D93-AFEA-3AF4FDD04101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1390650" cy="323850"/>
          </a:xfrm>
          <a:prstGeom prst="roundRect">
            <a:avLst>
              <a:gd name="adj" fmla="val 41176"/>
            </a:avLst>
          </a:prstGeom>
          <a:solidFill>
            <a:srgbClr val="F8F0DE"/>
          </a:solidFill>
          <a:ln w="9525">
            <a:solidFill>
              <a:srgbClr val="F8F0DE"/>
            </a:solidFill>
            <a:prstDash val="solid"/>
          </a:ln>
        </p:spPr>
      </p:sp>
      <p:sp>
        <p:nvSpPr>
          <p:cNvPr id="11" name="loss-example-tag-text">
            <a:extLst>
              <a:ext uri="{FF2B5EF4-FFF2-40B4-BE49-F238E27FC236}">
                <a16:creationId xmlns:a16="http://schemas.microsoft.com/office/drawing/2014/main" id="{0E2518C5-0DB9-48FD-8B0C-AD03E41DFEE9}"/>
              </a:ext>
            </a:extLst>
          </p:cNvPr>
          <p:cNvSpPr>
            <a:spLocks noGrp="1"/>
          </p:cNvSpPr>
          <p:nvPr/>
        </p:nvSpPr>
        <p:spPr>
          <a:xfrm>
            <a:off x="904875" y="1857375"/>
            <a:ext cx="12573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一条新闻</a:t>
            </a:r>
          </a:p>
        </p:txBody>
      </p:sp>
      <p:sp>
        <p:nvSpPr>
          <p:cNvPr id="12" name="loss-example-news">
            <a:extLst>
              <a:ext uri="{FF2B5EF4-FFF2-40B4-BE49-F238E27FC236}">
                <a16:creationId xmlns:a16="http://schemas.microsoft.com/office/drawing/2014/main" id="{2904E3E7-45AA-47DC-8B2D-83A3E6B8D399}"/>
              </a:ext>
            </a:extLst>
          </p:cNvPr>
          <p:cNvSpPr>
            <a:spLocks noGrp="1"/>
          </p:cNvSpPr>
          <p:nvPr/>
        </p:nvSpPr>
        <p:spPr>
          <a:xfrm>
            <a:off x="838200" y="2295525"/>
            <a:ext cx="28765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9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球队赢得决赛</a:t>
            </a:r>
          </a:p>
        </p:txBody>
      </p:sp>
      <p:sp>
        <p:nvSpPr>
          <p:cNvPr id="13" name="loss-true-label">
            <a:extLst>
              <a:ext uri="{FF2B5EF4-FFF2-40B4-BE49-F238E27FC236}">
                <a16:creationId xmlns:a16="http://schemas.microsoft.com/office/drawing/2014/main" id="{AB2586D3-CE54-4EE8-A07F-2D241FC9BB2B}"/>
              </a:ext>
            </a:extLst>
          </p:cNvPr>
          <p:cNvSpPr>
            <a:spLocks noGrp="1"/>
          </p:cNvSpPr>
          <p:nvPr/>
        </p:nvSpPr>
        <p:spPr>
          <a:xfrm>
            <a:off x="838200" y="2790825"/>
            <a:ext cx="28765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50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真实类别：体育</a:t>
            </a:r>
          </a:p>
        </p:txBody>
      </p:sp>
      <p:sp>
        <p:nvSpPr>
          <p:cNvPr id="14" name="loss-bad-card">
            <a:extLst>
              <a:ext uri="{FF2B5EF4-FFF2-40B4-BE49-F238E27FC236}">
                <a16:creationId xmlns:a16="http://schemas.microsoft.com/office/drawing/2014/main" id="{CCCF127F-BFB4-451C-BC95-5C360ABA6441}"/>
              </a:ext>
            </a:extLst>
          </p:cNvPr>
          <p:cNvSpPr>
            <a:spLocks noGrp="1"/>
          </p:cNvSpPr>
          <p:nvPr/>
        </p:nvSpPr>
        <p:spPr>
          <a:xfrm>
            <a:off x="838200" y="3333750"/>
            <a:ext cx="2876550" cy="781050"/>
          </a:xfrm>
          <a:prstGeom prst="roundRect">
            <a:avLst>
              <a:gd name="adj" fmla="val 15854"/>
            </a:avLst>
          </a:prstGeom>
          <a:solidFill>
            <a:srgbClr val="F6ECE6"/>
          </a:solidFill>
          <a:ln w="9525">
            <a:solidFill>
              <a:srgbClr val="F6ECE6"/>
            </a:solidFill>
            <a:prstDash val="solid"/>
          </a:ln>
        </p:spPr>
      </p:sp>
      <p:sp>
        <p:nvSpPr>
          <p:cNvPr id="15" name="loss-bad-label">
            <a:extLst>
              <a:ext uri="{FF2B5EF4-FFF2-40B4-BE49-F238E27FC236}">
                <a16:creationId xmlns:a16="http://schemas.microsoft.com/office/drawing/2014/main" id="{20039D4E-0593-44A8-9B2A-909CA09A563B}"/>
              </a:ext>
            </a:extLst>
          </p:cNvPr>
          <p:cNvSpPr>
            <a:spLocks noGrp="1"/>
          </p:cNvSpPr>
          <p:nvPr/>
        </p:nvSpPr>
        <p:spPr>
          <a:xfrm>
            <a:off x="990600" y="3400425"/>
            <a:ext cx="2571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1">
                <a:solidFill>
                  <a:srgbClr val="B96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684E"/>
                </a:solidFill>
                <a:latin typeface="Microsoft YaHei"/>
                <a:ea typeface="Microsoft YaHei"/>
                <a:cs typeface="Microsoft YaHei"/>
              </a:rPr>
              <a:t>体育概率 p = 0.10</a:t>
            </a:r>
          </a:p>
          <a:p>
            <a:pPr algn="l">
              <a:buNone/>
              <a:defRPr sz="1425" b="1">
                <a:solidFill>
                  <a:srgbClr val="B96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684E"/>
                </a:solidFill>
                <a:latin typeface="Microsoft YaHei"/>
                <a:ea typeface="Microsoft YaHei"/>
                <a:cs typeface="Microsoft YaHei"/>
              </a:rPr>
              <a:t>损失 −ln(0.10) = 2.30</a:t>
            </a:r>
          </a:p>
        </p:txBody>
      </p:sp>
      <p:sp>
        <p:nvSpPr>
          <p:cNvPr id="16" name="loss-good-card">
            <a:extLst>
              <a:ext uri="{FF2B5EF4-FFF2-40B4-BE49-F238E27FC236}">
                <a16:creationId xmlns:a16="http://schemas.microsoft.com/office/drawing/2014/main" id="{FB4FC187-AC4E-422B-989E-C8DC0A7A5BCC}"/>
              </a:ext>
            </a:extLst>
          </p:cNvPr>
          <p:cNvSpPr>
            <a:spLocks noGrp="1"/>
          </p:cNvSpPr>
          <p:nvPr/>
        </p:nvSpPr>
        <p:spPr>
          <a:xfrm>
            <a:off x="838200" y="4229100"/>
            <a:ext cx="2876550" cy="781050"/>
          </a:xfrm>
          <a:prstGeom prst="roundRect">
            <a:avLst>
              <a:gd name="adj" fmla="val 15854"/>
            </a:avLst>
          </a:prstGeom>
          <a:solidFill>
            <a:srgbClr val="E6F2F0"/>
          </a:solidFill>
          <a:ln w="9525">
            <a:solidFill>
              <a:srgbClr val="E6F2F0"/>
            </a:solidFill>
            <a:prstDash val="solid"/>
          </a:ln>
        </p:spPr>
      </p:sp>
      <p:sp>
        <p:nvSpPr>
          <p:cNvPr id="17" name="loss-good-label">
            <a:extLst>
              <a:ext uri="{FF2B5EF4-FFF2-40B4-BE49-F238E27FC236}">
                <a16:creationId xmlns:a16="http://schemas.microsoft.com/office/drawing/2014/main" id="{92B20FAF-18D8-4D9A-B797-CABB08901C39}"/>
              </a:ext>
            </a:extLst>
          </p:cNvPr>
          <p:cNvSpPr>
            <a:spLocks noGrp="1"/>
          </p:cNvSpPr>
          <p:nvPr/>
        </p:nvSpPr>
        <p:spPr>
          <a:xfrm>
            <a:off x="990600" y="4295775"/>
            <a:ext cx="2571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体育概率 p = 0.70</a:t>
            </a:r>
          </a:p>
          <a:p>
            <a:pPr algn="l">
              <a:buNone/>
              <a:defRPr sz="14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损失 −ln(0.70) ≈ 0.36</a:t>
            </a:r>
          </a:p>
        </p:txBody>
      </p:sp>
      <p:sp>
        <p:nvSpPr>
          <p:cNvPr id="18" name="loss-example-foot">
            <a:extLst>
              <a:ext uri="{FF2B5EF4-FFF2-40B4-BE49-F238E27FC236}">
                <a16:creationId xmlns:a16="http://schemas.microsoft.com/office/drawing/2014/main" id="{6C81A48C-DC15-483B-8626-ED97C84E9B6F}"/>
              </a:ext>
            </a:extLst>
          </p:cNvPr>
          <p:cNvSpPr>
            <a:spLocks noGrp="1"/>
          </p:cNvSpPr>
          <p:nvPr/>
        </p:nvSpPr>
        <p:spPr>
          <a:xfrm>
            <a:off x="838200" y="5162550"/>
            <a:ext cx="2876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1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数字为教学示意，不是实验结果。</a:t>
            </a:r>
          </a:p>
        </p:txBody>
      </p:sp>
      <p:sp>
        <p:nvSpPr>
          <p:cNvPr id="19" name="loss-middle-card">
            <a:extLst>
              <a:ext uri="{FF2B5EF4-FFF2-40B4-BE49-F238E27FC236}">
                <a16:creationId xmlns:a16="http://schemas.microsoft.com/office/drawing/2014/main" id="{69C0E493-BB4D-4DE6-A98A-A6F9126B06D0}"/>
              </a:ext>
            </a:extLst>
          </p:cNvPr>
          <p:cNvSpPr>
            <a:spLocks noGrp="1"/>
          </p:cNvSpPr>
          <p:nvPr/>
        </p:nvSpPr>
        <p:spPr>
          <a:xfrm>
            <a:off x="4191000" y="1666875"/>
            <a:ext cx="3086100" cy="409575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8DFDD"/>
            </a:solidFill>
            <a:prstDash val="solid"/>
          </a:ln>
        </p:spPr>
      </p:sp>
      <p:sp>
        <p:nvSpPr>
          <p:cNvPr id="20" name="loss-formula-heading">
            <a:extLst>
              <a:ext uri="{FF2B5EF4-FFF2-40B4-BE49-F238E27FC236}">
                <a16:creationId xmlns:a16="http://schemas.microsoft.com/office/drawing/2014/main" id="{CD726017-3019-4448-9909-4F3AD9A783B8}"/>
              </a:ext>
            </a:extLst>
          </p:cNvPr>
          <p:cNvSpPr>
            <a:spLocks noGrp="1"/>
          </p:cNvSpPr>
          <p:nvPr/>
        </p:nvSpPr>
        <p:spPr>
          <a:xfrm>
            <a:off x="4419600" y="1885950"/>
            <a:ext cx="2628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7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单个样本的损失</a:t>
            </a:r>
          </a:p>
        </p:txBody>
      </p:sp>
      <p:sp>
        <p:nvSpPr>
          <p:cNvPr id="21" name="loss-formula-box">
            <a:extLst>
              <a:ext uri="{FF2B5EF4-FFF2-40B4-BE49-F238E27FC236}">
                <a16:creationId xmlns:a16="http://schemas.microsoft.com/office/drawing/2014/main" id="{EA23989D-6174-466C-8CE4-15145DFBEC8F}"/>
              </a:ext>
            </a:extLst>
          </p:cNvPr>
          <p:cNvSpPr>
            <a:spLocks noGrp="1"/>
          </p:cNvSpPr>
          <p:nvPr/>
        </p:nvSpPr>
        <p:spPr>
          <a:xfrm>
            <a:off x="4419600" y="2371725"/>
            <a:ext cx="2628900" cy="790575"/>
          </a:xfrm>
          <a:prstGeom prst="roundRect">
            <a:avLst>
              <a:gd name="adj" fmla="val 15663"/>
            </a:avLst>
          </a:prstGeom>
          <a:solidFill>
            <a:srgbClr val="EAF0F3"/>
          </a:solidFill>
          <a:ln w="9525">
            <a:solidFill>
              <a:srgbClr val="EAF0F3"/>
            </a:solidFill>
            <a:prstDash val="solid"/>
          </a:ln>
        </p:spPr>
      </p:sp>
      <p:sp>
        <p:nvSpPr>
          <p:cNvPr id="22" name="loss-formula">
            <a:extLst>
              <a:ext uri="{FF2B5EF4-FFF2-40B4-BE49-F238E27FC236}">
                <a16:creationId xmlns:a16="http://schemas.microsoft.com/office/drawing/2014/main" id="{0AC21374-3428-47C0-ABE8-F9B33A9A9F4E}"/>
              </a:ext>
            </a:extLst>
          </p:cNvPr>
          <p:cNvSpPr>
            <a:spLocks noGrp="1"/>
          </p:cNvSpPr>
          <p:nvPr/>
        </p:nvSpPr>
        <p:spPr>
          <a:xfrm>
            <a:off x="4543425" y="2457450"/>
            <a:ext cx="23812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800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rPr>
              <a:t>L = −ln p(y真实)</a:t>
            </a:r>
          </a:p>
        </p:txBody>
      </p:sp>
      <p:sp>
        <p:nvSpPr>
          <p:cNvPr id="23" name="loss-definition">
            <a:extLst>
              <a:ext uri="{FF2B5EF4-FFF2-40B4-BE49-F238E27FC236}">
                <a16:creationId xmlns:a16="http://schemas.microsoft.com/office/drawing/2014/main" id="{02A23CDE-BF9A-4AAE-A186-E93CE9E4BE8D}"/>
              </a:ext>
            </a:extLst>
          </p:cNvPr>
          <p:cNvSpPr>
            <a:spLocks noGrp="1"/>
          </p:cNvSpPr>
          <p:nvPr/>
        </p:nvSpPr>
        <p:spPr>
          <a:xfrm>
            <a:off x="4419600" y="3343275"/>
            <a:ext cx="262890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0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rPr>
              <a:t>p(y真实) 是模型给正确类别的概率。</a:t>
            </a:r>
          </a:p>
          <a:p>
            <a:pPr algn="l">
              <a:buNone/>
              <a:defRPr sz="1425" b="0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rPr>
              <a:t>正确类别概率越高，损失越小。</a:t>
            </a:r>
          </a:p>
        </p:txBody>
      </p:sp>
      <p:sp>
        <p:nvSpPr>
          <p:cNvPr id="24" name="loss-loop-box">
            <a:extLst>
              <a:ext uri="{FF2B5EF4-FFF2-40B4-BE49-F238E27FC236}">
                <a16:creationId xmlns:a16="http://schemas.microsoft.com/office/drawing/2014/main" id="{E056CBF6-4565-4A57-9822-D3CF37C06721}"/>
              </a:ext>
            </a:extLst>
          </p:cNvPr>
          <p:cNvSpPr>
            <a:spLocks noGrp="1"/>
          </p:cNvSpPr>
          <p:nvPr/>
        </p:nvSpPr>
        <p:spPr>
          <a:xfrm>
            <a:off x="4419600" y="4362450"/>
            <a:ext cx="2628900" cy="971550"/>
          </a:xfrm>
          <a:prstGeom prst="roundRect">
            <a:avLst>
              <a:gd name="adj" fmla="val 12745"/>
            </a:avLst>
          </a:prstGeom>
          <a:solidFill>
            <a:srgbClr val="F8F0DE"/>
          </a:solidFill>
          <a:ln w="9525">
            <a:solidFill>
              <a:srgbClr val="F8F0DE"/>
            </a:solidFill>
            <a:prstDash val="solid"/>
          </a:ln>
        </p:spPr>
      </p:sp>
      <p:sp>
        <p:nvSpPr>
          <p:cNvPr id="25" name="loss-loop-text">
            <a:extLst>
              <a:ext uri="{FF2B5EF4-FFF2-40B4-BE49-F238E27FC236}">
                <a16:creationId xmlns:a16="http://schemas.microsoft.com/office/drawing/2014/main" id="{E942E405-419E-47A4-A5EB-55467063004B}"/>
              </a:ext>
            </a:extLst>
          </p:cNvPr>
          <p:cNvSpPr>
            <a:spLocks noGrp="1"/>
          </p:cNvSpPr>
          <p:nvPr/>
        </p:nvSpPr>
        <p:spPr>
          <a:xfrm>
            <a:off x="4572000" y="4438650"/>
            <a:ext cx="23241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新闻 → 预测 → 算损失</a:t>
            </a:r>
          </a:p>
          <a:p>
            <a:pPr algn="ctr">
              <a:buNone/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→ 改参数 → 再预测</a:t>
            </a:r>
          </a:p>
        </p:txBody>
      </p:sp>
      <p:sp>
        <p:nvSpPr>
          <p:cNvPr id="26" name="gradient-card">
            <a:extLst>
              <a:ext uri="{FF2B5EF4-FFF2-40B4-BE49-F238E27FC236}">
                <a16:creationId xmlns:a16="http://schemas.microsoft.com/office/drawing/2014/main" id="{803BE18D-7BEF-4605-80F0-D95E388156EA}"/>
              </a:ext>
            </a:extLst>
          </p:cNvPr>
          <p:cNvSpPr>
            <a:spLocks noGrp="1"/>
          </p:cNvSpPr>
          <p:nvPr/>
        </p:nvSpPr>
        <p:spPr>
          <a:xfrm>
            <a:off x="7505700" y="1666875"/>
            <a:ext cx="4076700" cy="4095750"/>
          </a:xfrm>
          <a:prstGeom prst="roundRect">
            <a:avLst>
              <a:gd name="adj" fmla="val 4206"/>
            </a:avLst>
          </a:prstGeom>
          <a:solidFill>
            <a:srgbClr val="FFFFFF"/>
          </a:solidFill>
          <a:ln w="9525">
            <a:solidFill>
              <a:srgbClr val="D8DFDD"/>
            </a:solidFill>
            <a:prstDash val="solid"/>
          </a:ln>
        </p:spPr>
      </p:sp>
      <p:sp>
        <p:nvSpPr>
          <p:cNvPr id="27" name="gradient-heading">
            <a:extLst>
              <a:ext uri="{FF2B5EF4-FFF2-40B4-BE49-F238E27FC236}">
                <a16:creationId xmlns:a16="http://schemas.microsoft.com/office/drawing/2014/main" id="{5E685CC8-EAD0-4616-BA33-A9C85E0F319B}"/>
              </a:ext>
            </a:extLst>
          </p:cNvPr>
          <p:cNvSpPr>
            <a:spLocks noGrp="1"/>
          </p:cNvSpPr>
          <p:nvPr/>
        </p:nvSpPr>
        <p:spPr>
          <a:xfrm>
            <a:off x="7734300" y="1885950"/>
            <a:ext cx="3619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7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参数怎么改？看梯度</a:t>
            </a:r>
          </a:p>
        </p:txBody>
      </p:sp>
      <p:sp>
        <p:nvSpPr>
          <p:cNvPr id="28" name="gradient-step-0">
            <a:extLst>
              <a:ext uri="{FF2B5EF4-FFF2-40B4-BE49-F238E27FC236}">
                <a16:creationId xmlns:a16="http://schemas.microsoft.com/office/drawing/2014/main" id="{97514770-05C2-4DD3-AF9B-D6732AF4C13E}"/>
              </a:ext>
            </a:extLst>
          </p:cNvPr>
          <p:cNvSpPr>
            <a:spLocks noGrp="1"/>
          </p:cNvSpPr>
          <p:nvPr/>
        </p:nvSpPr>
        <p:spPr>
          <a:xfrm>
            <a:off x="7734300" y="2381250"/>
            <a:ext cx="3619500" cy="457200"/>
          </a:xfrm>
          <a:prstGeom prst="roundRect">
            <a:avLst>
              <a:gd name="adj" fmla="val 25000"/>
            </a:avLst>
          </a:prstGeom>
          <a:solidFill>
            <a:srgbClr val="EAF0F3"/>
          </a:solidFill>
          <a:ln w="9525">
            <a:solidFill>
              <a:srgbClr val="EAF0F3"/>
            </a:solidFill>
            <a:prstDash val="solid"/>
          </a:ln>
        </p:spPr>
      </p:sp>
      <p:sp>
        <p:nvSpPr>
          <p:cNvPr id="29" name="gradient-step-num-0">
            <a:extLst>
              <a:ext uri="{FF2B5EF4-FFF2-40B4-BE49-F238E27FC236}">
                <a16:creationId xmlns:a16="http://schemas.microsoft.com/office/drawing/2014/main" id="{28142E33-1108-48EA-8D38-696B18A8DAB0}"/>
              </a:ext>
            </a:extLst>
          </p:cNvPr>
          <p:cNvSpPr>
            <a:spLocks noGrp="1"/>
          </p:cNvSpPr>
          <p:nvPr/>
        </p:nvSpPr>
        <p:spPr>
          <a:xfrm>
            <a:off x="7848600" y="2419350"/>
            <a:ext cx="3333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425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0" name="gradient-step-text-0">
            <a:extLst>
              <a:ext uri="{FF2B5EF4-FFF2-40B4-BE49-F238E27FC236}">
                <a16:creationId xmlns:a16="http://schemas.microsoft.com/office/drawing/2014/main" id="{E917BF91-B591-4351-A8A0-17AF8F9B5837}"/>
              </a:ext>
            </a:extLst>
          </p:cNvPr>
          <p:cNvSpPr>
            <a:spLocks noGrp="1"/>
          </p:cNvSpPr>
          <p:nvPr/>
        </p:nvSpPr>
        <p:spPr>
          <a:xfrm>
            <a:off x="8248650" y="2419350"/>
            <a:ext cx="2990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rPr>
              <a:t>模型预测</a:t>
            </a:r>
          </a:p>
        </p:txBody>
      </p:sp>
      <p:sp>
        <p:nvSpPr>
          <p:cNvPr id="31" name="gradient-step-1">
            <a:extLst>
              <a:ext uri="{FF2B5EF4-FFF2-40B4-BE49-F238E27FC236}">
                <a16:creationId xmlns:a16="http://schemas.microsoft.com/office/drawing/2014/main" id="{7058C4F2-1507-44E4-B04D-93B58184D155}"/>
              </a:ext>
            </a:extLst>
          </p:cNvPr>
          <p:cNvSpPr>
            <a:spLocks noGrp="1"/>
          </p:cNvSpPr>
          <p:nvPr/>
        </p:nvSpPr>
        <p:spPr>
          <a:xfrm>
            <a:off x="7734300" y="2981325"/>
            <a:ext cx="3619500" cy="457200"/>
          </a:xfrm>
          <a:prstGeom prst="roundRect">
            <a:avLst>
              <a:gd name="adj" fmla="val 25000"/>
            </a:avLst>
          </a:prstGeom>
          <a:solidFill>
            <a:srgbClr val="F8F0DE"/>
          </a:solidFill>
          <a:ln w="9525">
            <a:solidFill>
              <a:srgbClr val="F8F0DE"/>
            </a:solidFill>
            <a:prstDash val="solid"/>
          </a:ln>
        </p:spPr>
      </p:sp>
      <p:sp>
        <p:nvSpPr>
          <p:cNvPr id="32" name="gradient-step-num-1">
            <a:extLst>
              <a:ext uri="{FF2B5EF4-FFF2-40B4-BE49-F238E27FC236}">
                <a16:creationId xmlns:a16="http://schemas.microsoft.com/office/drawing/2014/main" id="{FE850F23-8147-4C51-A864-DD666E33BDB1}"/>
              </a:ext>
            </a:extLst>
          </p:cNvPr>
          <p:cNvSpPr>
            <a:spLocks noGrp="1"/>
          </p:cNvSpPr>
          <p:nvPr/>
        </p:nvSpPr>
        <p:spPr>
          <a:xfrm>
            <a:off x="7848600" y="3019425"/>
            <a:ext cx="3333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4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3" name="gradient-step-text-1">
            <a:extLst>
              <a:ext uri="{FF2B5EF4-FFF2-40B4-BE49-F238E27FC236}">
                <a16:creationId xmlns:a16="http://schemas.microsoft.com/office/drawing/2014/main" id="{98ED6F6D-8C50-40BD-B633-4DFA9D2C2CBA}"/>
              </a:ext>
            </a:extLst>
          </p:cNvPr>
          <p:cNvSpPr>
            <a:spLocks noGrp="1"/>
          </p:cNvSpPr>
          <p:nvPr/>
        </p:nvSpPr>
        <p:spPr>
          <a:xfrm>
            <a:off x="8248650" y="3019425"/>
            <a:ext cx="2990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rPr>
              <a:t>根据真标签算损失</a:t>
            </a:r>
          </a:p>
        </p:txBody>
      </p:sp>
      <p:sp>
        <p:nvSpPr>
          <p:cNvPr id="34" name="gradient-step-2">
            <a:extLst>
              <a:ext uri="{FF2B5EF4-FFF2-40B4-BE49-F238E27FC236}">
                <a16:creationId xmlns:a16="http://schemas.microsoft.com/office/drawing/2014/main" id="{CFF9C97A-04C6-436A-A157-517355D13505}"/>
              </a:ext>
            </a:extLst>
          </p:cNvPr>
          <p:cNvSpPr>
            <a:spLocks noGrp="1"/>
          </p:cNvSpPr>
          <p:nvPr/>
        </p:nvSpPr>
        <p:spPr>
          <a:xfrm>
            <a:off x="7734300" y="3581400"/>
            <a:ext cx="3619500" cy="457200"/>
          </a:xfrm>
          <a:prstGeom prst="roundRect">
            <a:avLst>
              <a:gd name="adj" fmla="val 25000"/>
            </a:avLst>
          </a:prstGeom>
          <a:solidFill>
            <a:srgbClr val="F6ECE6"/>
          </a:solidFill>
          <a:ln w="9525">
            <a:solidFill>
              <a:srgbClr val="F6ECE6"/>
            </a:solidFill>
            <a:prstDash val="solid"/>
          </a:ln>
        </p:spPr>
      </p:sp>
      <p:sp>
        <p:nvSpPr>
          <p:cNvPr id="35" name="gradient-step-num-2">
            <a:extLst>
              <a:ext uri="{FF2B5EF4-FFF2-40B4-BE49-F238E27FC236}">
                <a16:creationId xmlns:a16="http://schemas.microsoft.com/office/drawing/2014/main" id="{CC709D6A-794F-402B-BB84-1F4301385628}"/>
              </a:ext>
            </a:extLst>
          </p:cNvPr>
          <p:cNvSpPr>
            <a:spLocks noGrp="1"/>
          </p:cNvSpPr>
          <p:nvPr/>
        </p:nvSpPr>
        <p:spPr>
          <a:xfrm>
            <a:off x="7848600" y="3619500"/>
            <a:ext cx="3333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425" b="1">
                <a:solidFill>
                  <a:srgbClr val="B96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684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6" name="gradient-step-text-2">
            <a:extLst>
              <a:ext uri="{FF2B5EF4-FFF2-40B4-BE49-F238E27FC236}">
                <a16:creationId xmlns:a16="http://schemas.microsoft.com/office/drawing/2014/main" id="{CD6ADA9B-B68A-41EF-9B05-62AFEB0B8226}"/>
              </a:ext>
            </a:extLst>
          </p:cNvPr>
          <p:cNvSpPr>
            <a:spLocks noGrp="1"/>
          </p:cNvSpPr>
          <p:nvPr/>
        </p:nvSpPr>
        <p:spPr>
          <a:xfrm>
            <a:off x="8248650" y="3619500"/>
            <a:ext cx="2990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rPr>
              <a:t>梯度提示参数调整方向</a:t>
            </a:r>
          </a:p>
        </p:txBody>
      </p:sp>
      <p:sp>
        <p:nvSpPr>
          <p:cNvPr id="37" name="gradient-step-3">
            <a:extLst>
              <a:ext uri="{FF2B5EF4-FFF2-40B4-BE49-F238E27FC236}">
                <a16:creationId xmlns:a16="http://schemas.microsoft.com/office/drawing/2014/main" id="{84205C8D-20AA-420C-BC02-24CADFB98BDA}"/>
              </a:ext>
            </a:extLst>
          </p:cNvPr>
          <p:cNvSpPr>
            <a:spLocks noGrp="1"/>
          </p:cNvSpPr>
          <p:nvPr/>
        </p:nvSpPr>
        <p:spPr>
          <a:xfrm>
            <a:off x="7734300" y="4181475"/>
            <a:ext cx="3619500" cy="457200"/>
          </a:xfrm>
          <a:prstGeom prst="roundRect">
            <a:avLst>
              <a:gd name="adj" fmla="val 25000"/>
            </a:avLst>
          </a:prstGeom>
          <a:solidFill>
            <a:srgbClr val="E6F2F0"/>
          </a:solidFill>
          <a:ln w="9525">
            <a:solidFill>
              <a:srgbClr val="E6F2F0"/>
            </a:solidFill>
            <a:prstDash val="solid"/>
          </a:ln>
        </p:spPr>
      </p:sp>
      <p:sp>
        <p:nvSpPr>
          <p:cNvPr id="38" name="gradient-step-num-3">
            <a:extLst>
              <a:ext uri="{FF2B5EF4-FFF2-40B4-BE49-F238E27FC236}">
                <a16:creationId xmlns:a16="http://schemas.microsoft.com/office/drawing/2014/main" id="{D9276C85-22BC-4062-9BED-07B3C45E65BF}"/>
              </a:ext>
            </a:extLst>
          </p:cNvPr>
          <p:cNvSpPr>
            <a:spLocks noGrp="1"/>
          </p:cNvSpPr>
          <p:nvPr/>
        </p:nvSpPr>
        <p:spPr>
          <a:xfrm>
            <a:off x="7848600" y="4219575"/>
            <a:ext cx="3333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4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9" name="gradient-step-text-3">
            <a:extLst>
              <a:ext uri="{FF2B5EF4-FFF2-40B4-BE49-F238E27FC236}">
                <a16:creationId xmlns:a16="http://schemas.microsoft.com/office/drawing/2014/main" id="{043955C3-181A-4797-B71D-385582CADCDD}"/>
              </a:ext>
            </a:extLst>
          </p:cNvPr>
          <p:cNvSpPr>
            <a:spLocks noGrp="1"/>
          </p:cNvSpPr>
          <p:nvPr/>
        </p:nvSpPr>
        <p:spPr>
          <a:xfrm>
            <a:off x="8248650" y="4219575"/>
            <a:ext cx="29908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rPr>
              <a:t>优化器更新可训练参数</a:t>
            </a:r>
          </a:p>
        </p:txBody>
      </p:sp>
      <p:sp>
        <p:nvSpPr>
          <p:cNvPr id="40" name="gradient-rule-box">
            <a:extLst>
              <a:ext uri="{FF2B5EF4-FFF2-40B4-BE49-F238E27FC236}">
                <a16:creationId xmlns:a16="http://schemas.microsoft.com/office/drawing/2014/main" id="{02DEFCF7-B086-40CC-AE06-32B93CA934C3}"/>
              </a:ext>
            </a:extLst>
          </p:cNvPr>
          <p:cNvSpPr>
            <a:spLocks noGrp="1"/>
          </p:cNvSpPr>
          <p:nvPr/>
        </p:nvSpPr>
        <p:spPr>
          <a:xfrm>
            <a:off x="7734300" y="4895850"/>
            <a:ext cx="3619500" cy="581025"/>
          </a:xfrm>
          <a:prstGeom prst="roundRect">
            <a:avLst>
              <a:gd name="adj" fmla="val 19672"/>
            </a:avLst>
          </a:prstGeom>
          <a:solidFill>
            <a:srgbClr val="F2F5F3"/>
          </a:solidFill>
          <a:ln w="9525">
            <a:solidFill>
              <a:srgbClr val="F2F5F3"/>
            </a:solidFill>
            <a:prstDash val="solid"/>
          </a:ln>
        </p:spPr>
      </p:sp>
      <p:sp>
        <p:nvSpPr>
          <p:cNvPr id="41" name="gradient-rule">
            <a:extLst>
              <a:ext uri="{FF2B5EF4-FFF2-40B4-BE49-F238E27FC236}">
                <a16:creationId xmlns:a16="http://schemas.microsoft.com/office/drawing/2014/main" id="{30D827DE-59F4-4A95-8D10-1C2E97FD51E8}"/>
              </a:ext>
            </a:extLst>
          </p:cNvPr>
          <p:cNvSpPr>
            <a:spLocks noGrp="1"/>
          </p:cNvSpPr>
          <p:nvPr/>
        </p:nvSpPr>
        <p:spPr>
          <a:xfrm>
            <a:off x="7848600" y="4943475"/>
            <a:ext cx="33909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125" b="0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rPr>
              <a:t>最简化写法：θ ← θ − η∇θL</a:t>
            </a:r>
          </a:p>
          <a:p>
            <a:pPr algn="ctr">
              <a:buNone/>
              <a:defRPr sz="1125" b="0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rPr>
              <a:t>θ 是模型内部数字，η 是调整步长</a:t>
            </a:r>
          </a:p>
        </p:txBody>
      </p:sp>
    </p:spTree>
    <p:extLst>
      <p:ext uri="{BB962C8B-B14F-4D97-AF65-F5344CB8AC3E}">
        <p14:creationId xmlns:p14="http://schemas.microsoft.com/office/powerpoint/2010/main" val="883142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-background-4">
            <a:extLst>
              <a:ext uri="{FF2B5EF4-FFF2-40B4-BE49-F238E27FC236}">
                <a16:creationId xmlns:a16="http://schemas.microsoft.com/office/drawing/2014/main" id="{67EEF316-F614-4522-98BB-E0C1FE3B2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4EF"/>
          </a:solidFill>
          <a:ln w="0">
            <a:noFill/>
          </a:ln>
        </p:spPr>
      </p:sp>
      <p:sp>
        <p:nvSpPr>
          <p:cNvPr id="2" name="top-rule-4">
            <a:extLst>
              <a:ext uri="{FF2B5EF4-FFF2-40B4-BE49-F238E27FC236}">
                <a16:creationId xmlns:a16="http://schemas.microsoft.com/office/drawing/2014/main" id="{CEDD1C11-11D3-41CC-AD5E-4A3D9E4036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87F88"/>
          </a:solidFill>
          <a:ln w="0">
            <a:noFill/>
          </a:ln>
        </p:spPr>
      </p:sp>
      <p:sp>
        <p:nvSpPr>
          <p:cNvPr id="3" name="section-4">
            <a:extLst>
              <a:ext uri="{FF2B5EF4-FFF2-40B4-BE49-F238E27FC236}">
                <a16:creationId xmlns:a16="http://schemas.microsoft.com/office/drawing/2014/main" id="{C9B2A626-6C48-4CBB-88B9-31700F2650A5}"/>
              </a:ext>
            </a:extLst>
          </p:cNvPr>
          <p:cNvSpPr>
            <a:spLocks noGrp="1"/>
          </p:cNvSpPr>
          <p:nvPr/>
        </p:nvSpPr>
        <p:spPr>
          <a:xfrm>
            <a:off x="609600" y="19050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65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基础概念  ·  LoRA 怎样工作</a:t>
            </a:r>
          </a:p>
        </p:txBody>
      </p:sp>
      <p:sp>
        <p:nvSpPr>
          <p:cNvPr id="4" name="title-4">
            <a:extLst>
              <a:ext uri="{FF2B5EF4-FFF2-40B4-BE49-F238E27FC236}">
                <a16:creationId xmlns:a16="http://schemas.microsoft.com/office/drawing/2014/main" id="{E8063F8C-464C-4BC0-9DC7-CB51FC087B53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LoRA：保留原模型，用两块小矩阵表示新变化</a:t>
            </a:r>
          </a:p>
        </p:txBody>
      </p:sp>
      <p:sp>
        <p:nvSpPr>
          <p:cNvPr id="5" name="subtitle-4">
            <a:extLst>
              <a:ext uri="{FF2B5EF4-FFF2-40B4-BE49-F238E27FC236}">
                <a16:creationId xmlns:a16="http://schemas.microsoft.com/office/drawing/2014/main" id="{E94D7B15-7129-42EE-AC50-44549D312921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原权重 W₀ 冻结；只学习低秩增量，再把增量加到原计算结果上。</a:t>
            </a:r>
          </a:p>
        </p:txBody>
      </p:sp>
      <p:sp>
        <p:nvSpPr>
          <p:cNvPr id="6" name="footer-rule-4">
            <a:extLst>
              <a:ext uri="{FF2B5EF4-FFF2-40B4-BE49-F238E27FC236}">
                <a16:creationId xmlns:a16="http://schemas.microsoft.com/office/drawing/2014/main" id="{7E8D14E0-BA78-4F6E-8C2D-381D78EA8EF0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9525"/>
          </a:xfrm>
          <a:prstGeom prst="rect">
            <a:avLst/>
          </a:prstGeom>
          <a:solidFill>
            <a:srgbClr val="D8DFDD"/>
          </a:solidFill>
          <a:ln w="0">
            <a:noFill/>
          </a:ln>
        </p:spPr>
      </p:sp>
      <p:sp>
        <p:nvSpPr>
          <p:cNvPr id="7" name="footer-label-4">
            <a:extLst>
              <a:ext uri="{FF2B5EF4-FFF2-40B4-BE49-F238E27FC236}">
                <a16:creationId xmlns:a16="http://schemas.microsoft.com/office/drawing/2014/main" id="{43EE3173-ABFD-40A9-8B0E-DD0684C27E1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联邦 LoRA 个性化  ·  HetSA-LoRA</a:t>
            </a:r>
          </a:p>
        </p:txBody>
      </p:sp>
      <p:sp>
        <p:nvSpPr>
          <p:cNvPr id="8" name="page-4">
            <a:extLst>
              <a:ext uri="{FF2B5EF4-FFF2-40B4-BE49-F238E27FC236}">
                <a16:creationId xmlns:a16="http://schemas.microsoft.com/office/drawing/2014/main" id="{5301BC12-4B2B-4065-967B-E86D8E2E798C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r">
              <a:buNone/>
              <a:def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9" name="lora-equation-strip">
            <a:extLst>
              <a:ext uri="{FF2B5EF4-FFF2-40B4-BE49-F238E27FC236}">
                <a16:creationId xmlns:a16="http://schemas.microsoft.com/office/drawing/2014/main" id="{9AEDFD32-5B32-42E6-AB55-2CAE068A1400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972800" cy="619125"/>
          </a:xfrm>
          <a:prstGeom prst="roundRect">
            <a:avLst>
              <a:gd name="adj" fmla="val 23077"/>
            </a:avLst>
          </a:prstGeom>
          <a:solidFill>
            <a:srgbClr val="E6F2F0"/>
          </a:solidFill>
          <a:ln w="9525">
            <a:solidFill>
              <a:srgbClr val="E6F2F0"/>
            </a:solidFill>
            <a:prstDash val="solid"/>
          </a:ln>
        </p:spPr>
      </p:sp>
      <p:sp>
        <p:nvSpPr>
          <p:cNvPr id="10" name="lora-equation">
            <a:extLst>
              <a:ext uri="{FF2B5EF4-FFF2-40B4-BE49-F238E27FC236}">
                <a16:creationId xmlns:a16="http://schemas.microsoft.com/office/drawing/2014/main" id="{84D25D21-712E-4892-B421-4CEADF6B745B}"/>
              </a:ext>
            </a:extLst>
          </p:cNvPr>
          <p:cNvSpPr>
            <a:spLocks noGrp="1"/>
          </p:cNvSpPr>
          <p:nvPr/>
        </p:nvSpPr>
        <p:spPr>
          <a:xfrm>
            <a:off x="800100" y="1638300"/>
            <a:ext cx="10591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225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W = W₀ + ΔW             ΔW = (α / r) B A</a:t>
            </a:r>
          </a:p>
        </p:txBody>
      </p:sp>
      <p:sp>
        <p:nvSpPr>
          <p:cNvPr id="11" name="lora-count-card">
            <a:extLst>
              <a:ext uri="{FF2B5EF4-FFF2-40B4-BE49-F238E27FC236}">
                <a16:creationId xmlns:a16="http://schemas.microsoft.com/office/drawing/2014/main" id="{5FC3B16D-0F88-47E0-9456-32A6152B5AC9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4191000" cy="337185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8DFDD"/>
            </a:solidFill>
            <a:prstDash val="solid"/>
          </a:ln>
        </p:spPr>
      </p:sp>
      <p:sp>
        <p:nvSpPr>
          <p:cNvPr id="12" name="lora-count-title">
            <a:extLst>
              <a:ext uri="{FF2B5EF4-FFF2-40B4-BE49-F238E27FC236}">
                <a16:creationId xmlns:a16="http://schemas.microsoft.com/office/drawing/2014/main" id="{5708FA56-6E0B-4850-A239-50862C06FDB4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3733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8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为什么叫参数高效？</a:t>
            </a:r>
          </a:p>
        </p:txBody>
      </p:sp>
      <p:sp>
        <p:nvSpPr>
          <p:cNvPr id="13" name="lora-full-label">
            <a:extLst>
              <a:ext uri="{FF2B5EF4-FFF2-40B4-BE49-F238E27FC236}">
                <a16:creationId xmlns:a16="http://schemas.microsoft.com/office/drawing/2014/main" id="{A41CC68E-C265-4D10-8FD4-EA057A4A6F80}"/>
              </a:ext>
            </a:extLst>
          </p:cNvPr>
          <p:cNvSpPr>
            <a:spLocks noGrp="1"/>
          </p:cNvSpPr>
          <p:nvPr/>
        </p:nvSpPr>
        <p:spPr>
          <a:xfrm>
            <a:off x="838200" y="3038475"/>
            <a:ext cx="1714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275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rPr>
              <a:t>完整训练一个矩阵</a:t>
            </a:r>
          </a:p>
        </p:txBody>
      </p:sp>
      <p:sp>
        <p:nvSpPr>
          <p:cNvPr id="14" name="lora-full-count">
            <a:extLst>
              <a:ext uri="{FF2B5EF4-FFF2-40B4-BE49-F238E27FC236}">
                <a16:creationId xmlns:a16="http://schemas.microsoft.com/office/drawing/2014/main" id="{9D0F1FE5-24C2-4B8D-9EF8-B0228E4C2A68}"/>
              </a:ext>
            </a:extLst>
          </p:cNvPr>
          <p:cNvSpPr>
            <a:spLocks noGrp="1"/>
          </p:cNvSpPr>
          <p:nvPr/>
        </p:nvSpPr>
        <p:spPr>
          <a:xfrm>
            <a:off x="838200" y="3305175"/>
            <a:ext cx="1714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21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589,824</a:t>
            </a:r>
          </a:p>
        </p:txBody>
      </p:sp>
      <p:sp>
        <p:nvSpPr>
          <p:cNvPr id="15" name="lora-full-dim">
            <a:extLst>
              <a:ext uri="{FF2B5EF4-FFF2-40B4-BE49-F238E27FC236}">
                <a16:creationId xmlns:a16="http://schemas.microsoft.com/office/drawing/2014/main" id="{9DC900E9-E536-4C5B-B3AD-2E76C7A85840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768 × 768</a:t>
            </a:r>
          </a:p>
        </p:txBody>
      </p:sp>
      <p:sp>
        <p:nvSpPr>
          <p:cNvPr id="16" name="lora-factor-label">
            <a:extLst>
              <a:ext uri="{FF2B5EF4-FFF2-40B4-BE49-F238E27FC236}">
                <a16:creationId xmlns:a16="http://schemas.microsoft.com/office/drawing/2014/main" id="{3B339D05-E6F7-4842-81EA-9F49FB03AAB1}"/>
              </a:ext>
            </a:extLst>
          </p:cNvPr>
          <p:cNvSpPr>
            <a:spLocks noGrp="1"/>
          </p:cNvSpPr>
          <p:nvPr/>
        </p:nvSpPr>
        <p:spPr>
          <a:xfrm>
            <a:off x="2800350" y="3038475"/>
            <a:ext cx="1714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2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LoRA 两块小矩阵</a:t>
            </a:r>
          </a:p>
        </p:txBody>
      </p:sp>
      <p:sp>
        <p:nvSpPr>
          <p:cNvPr id="17" name="lora-factor-count">
            <a:extLst>
              <a:ext uri="{FF2B5EF4-FFF2-40B4-BE49-F238E27FC236}">
                <a16:creationId xmlns:a16="http://schemas.microsoft.com/office/drawing/2014/main" id="{010A655A-E26F-4FE0-B6CA-BBA4106A15AC}"/>
              </a:ext>
            </a:extLst>
          </p:cNvPr>
          <p:cNvSpPr>
            <a:spLocks noGrp="1"/>
          </p:cNvSpPr>
          <p:nvPr/>
        </p:nvSpPr>
        <p:spPr>
          <a:xfrm>
            <a:off x="2800350" y="3305175"/>
            <a:ext cx="1714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21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24,576</a:t>
            </a:r>
          </a:p>
        </p:txBody>
      </p:sp>
      <p:sp>
        <p:nvSpPr>
          <p:cNvPr id="18" name="lora-factor-dim">
            <a:extLst>
              <a:ext uri="{FF2B5EF4-FFF2-40B4-BE49-F238E27FC236}">
                <a16:creationId xmlns:a16="http://schemas.microsoft.com/office/drawing/2014/main" id="{52019AD9-384C-4A7F-BD34-2FACA80B68CC}"/>
              </a:ext>
            </a:extLst>
          </p:cNvPr>
          <p:cNvSpPr>
            <a:spLocks noGrp="1"/>
          </p:cNvSpPr>
          <p:nvPr/>
        </p:nvSpPr>
        <p:spPr>
          <a:xfrm>
            <a:off x="2800350" y="373380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2 × 768 × 16</a:t>
            </a:r>
          </a:p>
        </p:txBody>
      </p:sp>
      <p:sp>
        <p:nvSpPr>
          <p:cNvPr id="19" name="lora-full-bar-label">
            <a:extLst>
              <a:ext uri="{FF2B5EF4-FFF2-40B4-BE49-F238E27FC236}">
                <a16:creationId xmlns:a16="http://schemas.microsoft.com/office/drawing/2014/main" id="{E1CAD1A4-F0B5-4384-9ABB-394A36728BA8}"/>
              </a:ext>
            </a:extLst>
          </p:cNvPr>
          <p:cNvSpPr>
            <a:spLocks noGrp="1"/>
          </p:cNvSpPr>
          <p:nvPr/>
        </p:nvSpPr>
        <p:spPr>
          <a:xfrm>
            <a:off x="838200" y="418147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1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全量矩阵</a:t>
            </a:r>
          </a:p>
        </p:txBody>
      </p:sp>
      <p:sp>
        <p:nvSpPr>
          <p:cNvPr id="20" name="lora-full-bar">
            <a:extLst>
              <a:ext uri="{FF2B5EF4-FFF2-40B4-BE49-F238E27FC236}">
                <a16:creationId xmlns:a16="http://schemas.microsoft.com/office/drawing/2014/main" id="{25997312-771D-4076-AEAD-54C24F26E6A5}"/>
              </a:ext>
            </a:extLst>
          </p:cNvPr>
          <p:cNvSpPr>
            <a:spLocks noGrp="1"/>
          </p:cNvSpPr>
          <p:nvPr/>
        </p:nvSpPr>
        <p:spPr>
          <a:xfrm>
            <a:off x="838200" y="4438650"/>
            <a:ext cx="3486150" cy="161925"/>
          </a:xfrm>
          <a:prstGeom prst="rect">
            <a:avLst/>
          </a:prstGeom>
          <a:solidFill>
            <a:srgbClr val="477F9B"/>
          </a:solidFill>
          <a:ln w="0">
            <a:noFill/>
          </a:ln>
        </p:spPr>
      </p:sp>
      <p:sp>
        <p:nvSpPr>
          <p:cNvPr id="21" name="lora-factor-bar-label">
            <a:extLst>
              <a:ext uri="{FF2B5EF4-FFF2-40B4-BE49-F238E27FC236}">
                <a16:creationId xmlns:a16="http://schemas.microsoft.com/office/drawing/2014/main" id="{19699252-7744-4C8B-BD3E-134EED5AAB70}"/>
              </a:ext>
            </a:extLst>
          </p:cNvPr>
          <p:cNvSpPr>
            <a:spLocks noGrp="1"/>
          </p:cNvSpPr>
          <p:nvPr/>
        </p:nvSpPr>
        <p:spPr>
          <a:xfrm>
            <a:off x="838200" y="4686300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1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LoRA 因子</a:t>
            </a:r>
          </a:p>
        </p:txBody>
      </p:sp>
      <p:sp>
        <p:nvSpPr>
          <p:cNvPr id="22" name="lora-factor-bar">
            <a:extLst>
              <a:ext uri="{FF2B5EF4-FFF2-40B4-BE49-F238E27FC236}">
                <a16:creationId xmlns:a16="http://schemas.microsoft.com/office/drawing/2014/main" id="{E0E65058-BA5D-4AEC-B532-EB588BF3FD10}"/>
              </a:ext>
            </a:extLst>
          </p:cNvPr>
          <p:cNvSpPr>
            <a:spLocks noGrp="1"/>
          </p:cNvSpPr>
          <p:nvPr/>
        </p:nvSpPr>
        <p:spPr>
          <a:xfrm>
            <a:off x="838200" y="4943475"/>
            <a:ext cx="145256" cy="161925"/>
          </a:xfrm>
          <a:prstGeom prst="rect">
            <a:avLst/>
          </a:prstGeom>
          <a:solidFill>
            <a:srgbClr val="D99D36"/>
          </a:solidFill>
          <a:ln w="0">
            <a:noFill/>
          </a:ln>
        </p:spPr>
      </p:sp>
      <p:sp>
        <p:nvSpPr>
          <p:cNvPr id="23" name="lora-factor-note">
            <a:extLst>
              <a:ext uri="{FF2B5EF4-FFF2-40B4-BE49-F238E27FC236}">
                <a16:creationId xmlns:a16="http://schemas.microsoft.com/office/drawing/2014/main" id="{4826014F-5B92-4942-B164-4A47DF43AF28}"/>
              </a:ext>
            </a:extLst>
          </p:cNvPr>
          <p:cNvSpPr>
            <a:spLocks noGrp="1"/>
          </p:cNvSpPr>
          <p:nvPr/>
        </p:nvSpPr>
        <p:spPr>
          <a:xfrm>
            <a:off x="838200" y="5200650"/>
            <a:ext cx="3714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200" b="1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rPr>
              <a:t>这一层投影矩阵内，可训练参数约少 24 倍。</a:t>
            </a:r>
          </a:p>
        </p:txBody>
      </p:sp>
      <p:sp>
        <p:nvSpPr>
          <p:cNvPr id="24" name="lora-toy-card">
            <a:extLst>
              <a:ext uri="{FF2B5EF4-FFF2-40B4-BE49-F238E27FC236}">
                <a16:creationId xmlns:a16="http://schemas.microsoft.com/office/drawing/2014/main" id="{5820DC2E-D4A8-4CE9-8B8D-F4CA3558503D}"/>
              </a:ext>
            </a:extLst>
          </p:cNvPr>
          <p:cNvSpPr>
            <a:spLocks noGrp="1"/>
          </p:cNvSpPr>
          <p:nvPr/>
        </p:nvSpPr>
        <p:spPr>
          <a:xfrm>
            <a:off x="5048250" y="2390775"/>
            <a:ext cx="6534150" cy="337185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8DFDD"/>
            </a:solidFill>
            <a:prstDash val="solid"/>
          </a:ln>
        </p:spPr>
      </p:sp>
      <p:sp>
        <p:nvSpPr>
          <p:cNvPr id="25" name="lora-toy-title">
            <a:extLst>
              <a:ext uri="{FF2B5EF4-FFF2-40B4-BE49-F238E27FC236}">
                <a16:creationId xmlns:a16="http://schemas.microsoft.com/office/drawing/2014/main" id="{44DDCDC2-0D92-417C-9FA9-FC1771CA4F5F}"/>
              </a:ext>
            </a:extLst>
          </p:cNvPr>
          <p:cNvSpPr>
            <a:spLocks noGrp="1"/>
          </p:cNvSpPr>
          <p:nvPr/>
        </p:nvSpPr>
        <p:spPr>
          <a:xfrm>
            <a:off x="5276850" y="2571750"/>
            <a:ext cx="60769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5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二维例子：两个小矩阵乘起来，得到一次小更新</a:t>
            </a:r>
          </a:p>
        </p:txBody>
      </p:sp>
      <p:sp>
        <p:nvSpPr>
          <p:cNvPr id="26" name="lora-toy-a-label">
            <a:extLst>
              <a:ext uri="{FF2B5EF4-FFF2-40B4-BE49-F238E27FC236}">
                <a16:creationId xmlns:a16="http://schemas.microsoft.com/office/drawing/2014/main" id="{06856E42-29DF-4211-BADD-D13E9ED0D712}"/>
              </a:ext>
            </a:extLst>
          </p:cNvPr>
          <p:cNvSpPr>
            <a:spLocks noGrp="1"/>
          </p:cNvSpPr>
          <p:nvPr/>
        </p:nvSpPr>
        <p:spPr>
          <a:xfrm>
            <a:off x="5314950" y="30765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500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rPr>
              <a:t>A =</a:t>
            </a:r>
          </a:p>
        </p:txBody>
      </p:sp>
      <p:sp>
        <p:nvSpPr>
          <p:cNvPr id="27" name="lora-a-cell-1">
            <a:extLst>
              <a:ext uri="{FF2B5EF4-FFF2-40B4-BE49-F238E27FC236}">
                <a16:creationId xmlns:a16="http://schemas.microsoft.com/office/drawing/2014/main" id="{297B11AE-9849-436A-9966-A64D5A4EDA64}"/>
              </a:ext>
            </a:extLst>
          </p:cNvPr>
          <p:cNvSpPr>
            <a:spLocks noGrp="1"/>
          </p:cNvSpPr>
          <p:nvPr/>
        </p:nvSpPr>
        <p:spPr>
          <a:xfrm>
            <a:off x="5791200" y="3000375"/>
            <a:ext cx="523875" cy="400050"/>
          </a:xfrm>
          <a:prstGeom prst="roundRect">
            <a:avLst>
              <a:gd name="adj" fmla="val 19048"/>
            </a:avLst>
          </a:prstGeom>
          <a:solidFill>
            <a:srgbClr val="EAF0F3"/>
          </a:solidFill>
          <a:ln w="9525">
            <a:solidFill>
              <a:srgbClr val="EAF0F3"/>
            </a:solidFill>
            <a:prstDash val="solid"/>
          </a:ln>
        </p:spPr>
      </p:sp>
      <p:sp>
        <p:nvSpPr>
          <p:cNvPr id="28" name="lora-a-value-1">
            <a:extLst>
              <a:ext uri="{FF2B5EF4-FFF2-40B4-BE49-F238E27FC236}">
                <a16:creationId xmlns:a16="http://schemas.microsoft.com/office/drawing/2014/main" id="{BE2DCADA-7287-4B97-8449-3816F4BC3807}"/>
              </a:ext>
            </a:extLst>
          </p:cNvPr>
          <p:cNvSpPr>
            <a:spLocks noGrp="1"/>
          </p:cNvSpPr>
          <p:nvPr/>
        </p:nvSpPr>
        <p:spPr>
          <a:xfrm>
            <a:off x="5848350" y="3028950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425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9" name="lora-a-cell-2">
            <a:extLst>
              <a:ext uri="{FF2B5EF4-FFF2-40B4-BE49-F238E27FC236}">
                <a16:creationId xmlns:a16="http://schemas.microsoft.com/office/drawing/2014/main" id="{03D15969-5501-4C5A-95B1-74FC21169FD4}"/>
              </a:ext>
            </a:extLst>
          </p:cNvPr>
          <p:cNvSpPr>
            <a:spLocks noGrp="1"/>
          </p:cNvSpPr>
          <p:nvPr/>
        </p:nvSpPr>
        <p:spPr>
          <a:xfrm>
            <a:off x="6362700" y="3000375"/>
            <a:ext cx="523875" cy="400050"/>
          </a:xfrm>
          <a:prstGeom prst="roundRect">
            <a:avLst>
              <a:gd name="adj" fmla="val 19048"/>
            </a:avLst>
          </a:prstGeom>
          <a:solidFill>
            <a:srgbClr val="EAF0F3"/>
          </a:solidFill>
          <a:ln w="9525">
            <a:solidFill>
              <a:srgbClr val="EAF0F3"/>
            </a:solidFill>
            <a:prstDash val="solid"/>
          </a:ln>
        </p:spPr>
      </p:sp>
      <p:sp>
        <p:nvSpPr>
          <p:cNvPr id="30" name="lora-a-value-2">
            <a:extLst>
              <a:ext uri="{FF2B5EF4-FFF2-40B4-BE49-F238E27FC236}">
                <a16:creationId xmlns:a16="http://schemas.microsoft.com/office/drawing/2014/main" id="{1E4AF451-BC90-42A4-9490-309FE2E795C9}"/>
              </a:ext>
            </a:extLst>
          </p:cNvPr>
          <p:cNvSpPr>
            <a:spLocks noGrp="1"/>
          </p:cNvSpPr>
          <p:nvPr/>
        </p:nvSpPr>
        <p:spPr>
          <a:xfrm>
            <a:off x="6419850" y="3028950"/>
            <a:ext cx="4095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425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1" name="lora-toy-b-label">
            <a:extLst>
              <a:ext uri="{FF2B5EF4-FFF2-40B4-BE49-F238E27FC236}">
                <a16:creationId xmlns:a16="http://schemas.microsoft.com/office/drawing/2014/main" id="{23CCD7A4-1260-4E79-9FBD-2F5CF7334139}"/>
              </a:ext>
            </a:extLst>
          </p:cNvPr>
          <p:cNvSpPr>
            <a:spLocks noGrp="1"/>
          </p:cNvSpPr>
          <p:nvPr/>
        </p:nvSpPr>
        <p:spPr>
          <a:xfrm>
            <a:off x="7086600" y="30765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500" b="1">
                <a:solidFill>
                  <a:srgbClr val="D99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9D36"/>
                </a:solidFill>
                <a:latin typeface="Microsoft YaHei"/>
                <a:ea typeface="Microsoft YaHei"/>
                <a:cs typeface="Microsoft YaHei"/>
              </a:rPr>
              <a:t>B =</a:t>
            </a:r>
          </a:p>
        </p:txBody>
      </p:sp>
      <p:sp>
        <p:nvSpPr>
          <p:cNvPr id="32" name="lora-b-cell-1">
            <a:extLst>
              <a:ext uri="{FF2B5EF4-FFF2-40B4-BE49-F238E27FC236}">
                <a16:creationId xmlns:a16="http://schemas.microsoft.com/office/drawing/2014/main" id="{B9CDB68C-EE61-483E-9E55-ADD403F9A0F4}"/>
              </a:ext>
            </a:extLst>
          </p:cNvPr>
          <p:cNvSpPr>
            <a:spLocks noGrp="1"/>
          </p:cNvSpPr>
          <p:nvPr/>
        </p:nvSpPr>
        <p:spPr>
          <a:xfrm>
            <a:off x="7562850" y="2943225"/>
            <a:ext cx="600075" cy="342900"/>
          </a:xfrm>
          <a:prstGeom prst="roundRect">
            <a:avLst>
              <a:gd name="adj" fmla="val 22222"/>
            </a:avLst>
          </a:prstGeom>
          <a:solidFill>
            <a:srgbClr val="F8F0DE"/>
          </a:solidFill>
          <a:ln w="9525">
            <a:solidFill>
              <a:srgbClr val="F8F0DE"/>
            </a:solidFill>
            <a:prstDash val="solid"/>
          </a:ln>
        </p:spPr>
      </p:sp>
      <p:sp>
        <p:nvSpPr>
          <p:cNvPr id="33" name="lora-b-value-1">
            <a:extLst>
              <a:ext uri="{FF2B5EF4-FFF2-40B4-BE49-F238E27FC236}">
                <a16:creationId xmlns:a16="http://schemas.microsoft.com/office/drawing/2014/main" id="{4D98C851-9AD2-4E17-B26C-EBBDB897F5A9}"/>
              </a:ext>
            </a:extLst>
          </p:cNvPr>
          <p:cNvSpPr>
            <a:spLocks noGrp="1"/>
          </p:cNvSpPr>
          <p:nvPr/>
        </p:nvSpPr>
        <p:spPr>
          <a:xfrm>
            <a:off x="7629525" y="2962275"/>
            <a:ext cx="4667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2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0.4</a:t>
            </a:r>
          </a:p>
        </p:txBody>
      </p:sp>
      <p:sp>
        <p:nvSpPr>
          <p:cNvPr id="34" name="lora-b-cell-2">
            <a:extLst>
              <a:ext uri="{FF2B5EF4-FFF2-40B4-BE49-F238E27FC236}">
                <a16:creationId xmlns:a16="http://schemas.microsoft.com/office/drawing/2014/main" id="{18525895-85C0-4943-AFBE-FD20E66B7C96}"/>
              </a:ext>
            </a:extLst>
          </p:cNvPr>
          <p:cNvSpPr>
            <a:spLocks noGrp="1"/>
          </p:cNvSpPr>
          <p:nvPr/>
        </p:nvSpPr>
        <p:spPr>
          <a:xfrm>
            <a:off x="7562850" y="3333750"/>
            <a:ext cx="600075" cy="342900"/>
          </a:xfrm>
          <a:prstGeom prst="roundRect">
            <a:avLst>
              <a:gd name="adj" fmla="val 22222"/>
            </a:avLst>
          </a:prstGeom>
          <a:solidFill>
            <a:srgbClr val="F8F0DE"/>
          </a:solidFill>
          <a:ln w="9525">
            <a:solidFill>
              <a:srgbClr val="F8F0DE"/>
            </a:solidFill>
            <a:prstDash val="solid"/>
          </a:ln>
        </p:spPr>
      </p:sp>
      <p:sp>
        <p:nvSpPr>
          <p:cNvPr id="35" name="lora-b-value-2">
            <a:extLst>
              <a:ext uri="{FF2B5EF4-FFF2-40B4-BE49-F238E27FC236}">
                <a16:creationId xmlns:a16="http://schemas.microsoft.com/office/drawing/2014/main" id="{2A03E016-50F1-4FB0-9017-AA482ED112DC}"/>
              </a:ext>
            </a:extLst>
          </p:cNvPr>
          <p:cNvSpPr>
            <a:spLocks noGrp="1"/>
          </p:cNvSpPr>
          <p:nvPr/>
        </p:nvSpPr>
        <p:spPr>
          <a:xfrm>
            <a:off x="7629525" y="3352800"/>
            <a:ext cx="4667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2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0.1</a:t>
            </a:r>
          </a:p>
        </p:txBody>
      </p:sp>
      <p:sp>
        <p:nvSpPr>
          <p:cNvPr id="36" name="lora-mult-symbol">
            <a:extLst>
              <a:ext uri="{FF2B5EF4-FFF2-40B4-BE49-F238E27FC236}">
                <a16:creationId xmlns:a16="http://schemas.microsoft.com/office/drawing/2014/main" id="{C9205CF7-1BF4-44F4-AB24-C9569BEF6FDE}"/>
              </a:ext>
            </a:extLst>
          </p:cNvPr>
          <p:cNvSpPr>
            <a:spLocks noGrp="1"/>
          </p:cNvSpPr>
          <p:nvPr/>
        </p:nvSpPr>
        <p:spPr>
          <a:xfrm>
            <a:off x="8229600" y="3067050"/>
            <a:ext cx="2952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650" b="1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37" name="lora-product-label">
            <a:extLst>
              <a:ext uri="{FF2B5EF4-FFF2-40B4-BE49-F238E27FC236}">
                <a16:creationId xmlns:a16="http://schemas.microsoft.com/office/drawing/2014/main" id="{17B883C6-2297-48B5-B228-3BA5C25C1E41}"/>
              </a:ext>
            </a:extLst>
          </p:cNvPr>
          <p:cNvSpPr>
            <a:spLocks noGrp="1"/>
          </p:cNvSpPr>
          <p:nvPr/>
        </p:nvSpPr>
        <p:spPr>
          <a:xfrm>
            <a:off x="8572500" y="3067050"/>
            <a:ext cx="6477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50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BA =</a:t>
            </a:r>
          </a:p>
        </p:txBody>
      </p:sp>
      <p:sp>
        <p:nvSpPr>
          <p:cNvPr id="38" name="lora-product-cell-0-0">
            <a:extLst>
              <a:ext uri="{FF2B5EF4-FFF2-40B4-BE49-F238E27FC236}">
                <a16:creationId xmlns:a16="http://schemas.microsoft.com/office/drawing/2014/main" id="{4F9CBDA2-0F5C-4079-903A-99430C016224}"/>
              </a:ext>
            </a:extLst>
          </p:cNvPr>
          <p:cNvSpPr>
            <a:spLocks noGrp="1"/>
          </p:cNvSpPr>
          <p:nvPr/>
        </p:nvSpPr>
        <p:spPr>
          <a:xfrm>
            <a:off x="9182100" y="2943225"/>
            <a:ext cx="542925" cy="342900"/>
          </a:xfrm>
          <a:prstGeom prst="roundRect">
            <a:avLst>
              <a:gd name="adj" fmla="val 22222"/>
            </a:avLst>
          </a:prstGeom>
          <a:solidFill>
            <a:srgbClr val="E6F2F0"/>
          </a:solidFill>
          <a:ln w="9525">
            <a:solidFill>
              <a:srgbClr val="E6F2F0"/>
            </a:solidFill>
            <a:prstDash val="solid"/>
          </a:ln>
        </p:spPr>
      </p:sp>
      <p:sp>
        <p:nvSpPr>
          <p:cNvPr id="39" name="lora-product-value-0-0">
            <a:extLst>
              <a:ext uri="{FF2B5EF4-FFF2-40B4-BE49-F238E27FC236}">
                <a16:creationId xmlns:a16="http://schemas.microsoft.com/office/drawing/2014/main" id="{0FE28912-A3FC-40B8-B4D1-109F5DC51C15}"/>
              </a:ext>
            </a:extLst>
          </p:cNvPr>
          <p:cNvSpPr>
            <a:spLocks noGrp="1"/>
          </p:cNvSpPr>
          <p:nvPr/>
        </p:nvSpPr>
        <p:spPr>
          <a:xfrm>
            <a:off x="9229725" y="2962275"/>
            <a:ext cx="4476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2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0.4</a:t>
            </a:r>
          </a:p>
        </p:txBody>
      </p:sp>
      <p:sp>
        <p:nvSpPr>
          <p:cNvPr id="40" name="lora-product-cell-0-1">
            <a:extLst>
              <a:ext uri="{FF2B5EF4-FFF2-40B4-BE49-F238E27FC236}">
                <a16:creationId xmlns:a16="http://schemas.microsoft.com/office/drawing/2014/main" id="{654740E3-08BC-4B24-9EFA-76D3B5B71C3C}"/>
              </a:ext>
            </a:extLst>
          </p:cNvPr>
          <p:cNvSpPr>
            <a:spLocks noGrp="1"/>
          </p:cNvSpPr>
          <p:nvPr/>
        </p:nvSpPr>
        <p:spPr>
          <a:xfrm>
            <a:off x="9772650" y="2943225"/>
            <a:ext cx="542925" cy="342900"/>
          </a:xfrm>
          <a:prstGeom prst="roundRect">
            <a:avLst>
              <a:gd name="adj" fmla="val 22222"/>
            </a:avLst>
          </a:prstGeom>
          <a:solidFill>
            <a:srgbClr val="E6F2F0"/>
          </a:solidFill>
          <a:ln w="9525">
            <a:solidFill>
              <a:srgbClr val="E6F2F0"/>
            </a:solidFill>
            <a:prstDash val="solid"/>
          </a:ln>
        </p:spPr>
      </p:sp>
      <p:sp>
        <p:nvSpPr>
          <p:cNvPr id="41" name="lora-product-value-0-1">
            <a:extLst>
              <a:ext uri="{FF2B5EF4-FFF2-40B4-BE49-F238E27FC236}">
                <a16:creationId xmlns:a16="http://schemas.microsoft.com/office/drawing/2014/main" id="{4ED71FFA-7D8F-4E48-AA37-BF248226042D}"/>
              </a:ext>
            </a:extLst>
          </p:cNvPr>
          <p:cNvSpPr>
            <a:spLocks noGrp="1"/>
          </p:cNvSpPr>
          <p:nvPr/>
        </p:nvSpPr>
        <p:spPr>
          <a:xfrm>
            <a:off x="9820275" y="2962275"/>
            <a:ext cx="4476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2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42" name="lora-product-cell-1-0">
            <a:extLst>
              <a:ext uri="{FF2B5EF4-FFF2-40B4-BE49-F238E27FC236}">
                <a16:creationId xmlns:a16="http://schemas.microsoft.com/office/drawing/2014/main" id="{E9783001-110C-4BF5-9C3A-B79ACD908746}"/>
              </a:ext>
            </a:extLst>
          </p:cNvPr>
          <p:cNvSpPr>
            <a:spLocks noGrp="1"/>
          </p:cNvSpPr>
          <p:nvPr/>
        </p:nvSpPr>
        <p:spPr>
          <a:xfrm>
            <a:off x="9182100" y="3333750"/>
            <a:ext cx="542925" cy="342900"/>
          </a:xfrm>
          <a:prstGeom prst="roundRect">
            <a:avLst>
              <a:gd name="adj" fmla="val 22222"/>
            </a:avLst>
          </a:prstGeom>
          <a:solidFill>
            <a:srgbClr val="E6F2F0"/>
          </a:solidFill>
          <a:ln w="9525">
            <a:solidFill>
              <a:srgbClr val="E6F2F0"/>
            </a:solidFill>
            <a:prstDash val="solid"/>
          </a:ln>
        </p:spPr>
      </p:sp>
      <p:sp>
        <p:nvSpPr>
          <p:cNvPr id="43" name="lora-product-value-1-0">
            <a:extLst>
              <a:ext uri="{FF2B5EF4-FFF2-40B4-BE49-F238E27FC236}">
                <a16:creationId xmlns:a16="http://schemas.microsoft.com/office/drawing/2014/main" id="{66C5E016-96E1-4F63-918D-3BFE50156F7E}"/>
              </a:ext>
            </a:extLst>
          </p:cNvPr>
          <p:cNvSpPr>
            <a:spLocks noGrp="1"/>
          </p:cNvSpPr>
          <p:nvPr/>
        </p:nvSpPr>
        <p:spPr>
          <a:xfrm>
            <a:off x="9229725" y="3352800"/>
            <a:ext cx="4476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2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0.1</a:t>
            </a:r>
          </a:p>
        </p:txBody>
      </p:sp>
      <p:sp>
        <p:nvSpPr>
          <p:cNvPr id="44" name="lora-product-cell-1-1">
            <a:extLst>
              <a:ext uri="{FF2B5EF4-FFF2-40B4-BE49-F238E27FC236}">
                <a16:creationId xmlns:a16="http://schemas.microsoft.com/office/drawing/2014/main" id="{9D7AE3B7-E7B6-4AB7-9991-EF5841A8DCFE}"/>
              </a:ext>
            </a:extLst>
          </p:cNvPr>
          <p:cNvSpPr>
            <a:spLocks noGrp="1"/>
          </p:cNvSpPr>
          <p:nvPr/>
        </p:nvSpPr>
        <p:spPr>
          <a:xfrm>
            <a:off x="9772650" y="3333750"/>
            <a:ext cx="542925" cy="342900"/>
          </a:xfrm>
          <a:prstGeom prst="roundRect">
            <a:avLst>
              <a:gd name="adj" fmla="val 22222"/>
            </a:avLst>
          </a:prstGeom>
          <a:solidFill>
            <a:srgbClr val="E6F2F0"/>
          </a:solidFill>
          <a:ln w="9525">
            <a:solidFill>
              <a:srgbClr val="E6F2F0"/>
            </a:solidFill>
            <a:prstDash val="solid"/>
          </a:ln>
        </p:spPr>
      </p:sp>
      <p:sp>
        <p:nvSpPr>
          <p:cNvPr id="45" name="lora-product-value-1-1">
            <a:extLst>
              <a:ext uri="{FF2B5EF4-FFF2-40B4-BE49-F238E27FC236}">
                <a16:creationId xmlns:a16="http://schemas.microsoft.com/office/drawing/2014/main" id="{C2B56B07-081F-441A-A22A-4D53B883E42D}"/>
              </a:ext>
            </a:extLst>
          </p:cNvPr>
          <p:cNvSpPr>
            <a:spLocks noGrp="1"/>
          </p:cNvSpPr>
          <p:nvPr/>
        </p:nvSpPr>
        <p:spPr>
          <a:xfrm>
            <a:off x="9820275" y="3352800"/>
            <a:ext cx="4476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2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46" name="lora-input-strip">
            <a:extLst>
              <a:ext uri="{FF2B5EF4-FFF2-40B4-BE49-F238E27FC236}">
                <a16:creationId xmlns:a16="http://schemas.microsoft.com/office/drawing/2014/main" id="{9C14A004-F25C-4694-8059-8350729FD9DD}"/>
              </a:ext>
            </a:extLst>
          </p:cNvPr>
          <p:cNvSpPr>
            <a:spLocks noGrp="1"/>
          </p:cNvSpPr>
          <p:nvPr/>
        </p:nvSpPr>
        <p:spPr>
          <a:xfrm>
            <a:off x="5276850" y="3857625"/>
            <a:ext cx="6076950" cy="638175"/>
          </a:xfrm>
          <a:prstGeom prst="roundRect">
            <a:avLst>
              <a:gd name="adj" fmla="val 17910"/>
            </a:avLst>
          </a:prstGeom>
          <a:solidFill>
            <a:srgbClr val="EAF0F3"/>
          </a:solidFill>
          <a:ln w="9525">
            <a:solidFill>
              <a:srgbClr val="EAF0F3"/>
            </a:solidFill>
            <a:prstDash val="solid"/>
          </a:ln>
        </p:spPr>
      </p:sp>
      <p:sp>
        <p:nvSpPr>
          <p:cNvPr id="47" name="lora-input-step">
            <a:extLst>
              <a:ext uri="{FF2B5EF4-FFF2-40B4-BE49-F238E27FC236}">
                <a16:creationId xmlns:a16="http://schemas.microsoft.com/office/drawing/2014/main" id="{27FAD6FD-81CD-4790-9286-7D603BA66CDF}"/>
              </a:ext>
            </a:extLst>
          </p:cNvPr>
          <p:cNvSpPr>
            <a:spLocks noGrp="1"/>
          </p:cNvSpPr>
          <p:nvPr/>
        </p:nvSpPr>
        <p:spPr>
          <a:xfrm>
            <a:off x="5429250" y="3914775"/>
            <a:ext cx="57721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425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rPr>
              <a:t>输入 x = (2, 1)       增量 ΔW x = (0.8, 0.2)</a:t>
            </a:r>
          </a:p>
        </p:txBody>
      </p:sp>
      <p:sp>
        <p:nvSpPr>
          <p:cNvPr id="48" name="lora-output-step">
            <a:extLst>
              <a:ext uri="{FF2B5EF4-FFF2-40B4-BE49-F238E27FC236}">
                <a16:creationId xmlns:a16="http://schemas.microsoft.com/office/drawing/2014/main" id="{D0629D8C-C6F6-46CA-A0AE-D7698A4FE41C}"/>
              </a:ext>
            </a:extLst>
          </p:cNvPr>
          <p:cNvSpPr>
            <a:spLocks noGrp="1"/>
          </p:cNvSpPr>
          <p:nvPr/>
        </p:nvSpPr>
        <p:spPr>
          <a:xfrm>
            <a:off x="5276850" y="4638675"/>
            <a:ext cx="60769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4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若原 W₀ = I：输出从 (2, 1) 变为 (2.8, 1.2)</a:t>
            </a:r>
          </a:p>
        </p:txBody>
      </p:sp>
      <p:sp>
        <p:nvSpPr>
          <p:cNvPr id="49" name="lora-actual-config">
            <a:extLst>
              <a:ext uri="{FF2B5EF4-FFF2-40B4-BE49-F238E27FC236}">
                <a16:creationId xmlns:a16="http://schemas.microsoft.com/office/drawing/2014/main" id="{6A5FC3CB-E664-4558-BE27-783E05861FFE}"/>
              </a:ext>
            </a:extLst>
          </p:cNvPr>
          <p:cNvSpPr>
            <a:spLocks noGrp="1"/>
          </p:cNvSpPr>
          <p:nvPr/>
        </p:nvSpPr>
        <p:spPr>
          <a:xfrm>
            <a:off x="5276850" y="5219700"/>
            <a:ext cx="60769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1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玩具例子 rank=1；本实验 rank=16、α=16，作用于 query/value。</a:t>
            </a:r>
          </a:p>
        </p:txBody>
      </p:sp>
    </p:spTree>
    <p:extLst>
      <p:ext uri="{BB962C8B-B14F-4D97-AF65-F5344CB8AC3E}">
        <p14:creationId xmlns:p14="http://schemas.microsoft.com/office/powerpoint/2010/main" val="620256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-background-5">
            <a:extLst>
              <a:ext uri="{FF2B5EF4-FFF2-40B4-BE49-F238E27FC236}">
                <a16:creationId xmlns:a16="http://schemas.microsoft.com/office/drawing/2014/main" id="{F247A28C-231B-4034-ADAD-E03D699E10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4EF"/>
          </a:solidFill>
          <a:ln w="0">
            <a:noFill/>
          </a:ln>
        </p:spPr>
      </p:sp>
      <p:sp>
        <p:nvSpPr>
          <p:cNvPr id="2" name="top-rule-5">
            <a:extLst>
              <a:ext uri="{FF2B5EF4-FFF2-40B4-BE49-F238E27FC236}">
                <a16:creationId xmlns:a16="http://schemas.microsoft.com/office/drawing/2014/main" id="{566A9950-1BBE-4EE4-A2E9-8A7BBB90D6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87F88"/>
          </a:solidFill>
          <a:ln w="0">
            <a:noFill/>
          </a:ln>
        </p:spPr>
      </p:sp>
      <p:sp>
        <p:nvSpPr>
          <p:cNvPr id="3" name="section-5">
            <a:extLst>
              <a:ext uri="{FF2B5EF4-FFF2-40B4-BE49-F238E27FC236}">
                <a16:creationId xmlns:a16="http://schemas.microsoft.com/office/drawing/2014/main" id="{C22CC5A3-AF59-474F-A815-C1AE1B484ADE}"/>
              </a:ext>
            </a:extLst>
          </p:cNvPr>
          <p:cNvSpPr>
            <a:spLocks noGrp="1"/>
          </p:cNvSpPr>
          <p:nvPr/>
        </p:nvSpPr>
        <p:spPr>
          <a:xfrm>
            <a:off x="609600" y="19050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65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基础概念  ·  联邦训练与个性化</a:t>
            </a:r>
          </a:p>
        </p:txBody>
      </p:sp>
      <p:sp>
        <p:nvSpPr>
          <p:cNvPr id="4" name="title-5">
            <a:extLst>
              <a:ext uri="{FF2B5EF4-FFF2-40B4-BE49-F238E27FC236}">
                <a16:creationId xmlns:a16="http://schemas.microsoft.com/office/drawing/2014/main" id="{E09C3145-6117-42C4-A0B1-B0E6C5CCD7CF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联邦学习：数据留在本地，模型更新共同汇总</a:t>
            </a:r>
          </a:p>
        </p:txBody>
      </p:sp>
      <p:sp>
        <p:nvSpPr>
          <p:cNvPr id="5" name="subtitle-5">
            <a:extLst>
              <a:ext uri="{FF2B5EF4-FFF2-40B4-BE49-F238E27FC236}">
                <a16:creationId xmlns:a16="http://schemas.microsoft.com/office/drawing/2014/main" id="{D6718577-D351-404A-B5FC-D3FDEB29D75C}"/>
              </a:ext>
            </a:extLst>
          </p:cNvPr>
          <p:cNvSpPr>
            <a:spLocks noGrp="1"/>
          </p:cNvSpPr>
          <p:nvPr/>
        </p:nvSpPr>
        <p:spPr>
          <a:xfrm>
            <a:off x="609600" y="10477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4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服务器发送当前模型；各端用本地数据训练，再传回模型更新。</a:t>
            </a:r>
          </a:p>
        </p:txBody>
      </p:sp>
      <p:sp>
        <p:nvSpPr>
          <p:cNvPr id="6" name="footer-rule-5">
            <a:extLst>
              <a:ext uri="{FF2B5EF4-FFF2-40B4-BE49-F238E27FC236}">
                <a16:creationId xmlns:a16="http://schemas.microsoft.com/office/drawing/2014/main" id="{875C0D8D-F230-41B2-9EB8-AFFABE403626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9525"/>
          </a:xfrm>
          <a:prstGeom prst="rect">
            <a:avLst/>
          </a:prstGeom>
          <a:solidFill>
            <a:srgbClr val="D8DFDD"/>
          </a:solidFill>
          <a:ln w="0">
            <a:noFill/>
          </a:ln>
        </p:spPr>
      </p:sp>
      <p:sp>
        <p:nvSpPr>
          <p:cNvPr id="7" name="footer-label-5">
            <a:extLst>
              <a:ext uri="{FF2B5EF4-FFF2-40B4-BE49-F238E27FC236}">
                <a16:creationId xmlns:a16="http://schemas.microsoft.com/office/drawing/2014/main" id="{6AC9018A-4A71-4458-A5DD-1FFFBB5B40D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l">
              <a:buNone/>
              <a:def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联邦 LoRA 个性化  ·  HetSA-LoRA</a:t>
            </a:r>
          </a:p>
        </p:txBody>
      </p:sp>
      <p:sp>
        <p:nvSpPr>
          <p:cNvPr id="8" name="page-5">
            <a:extLst>
              <a:ext uri="{FF2B5EF4-FFF2-40B4-BE49-F238E27FC236}">
                <a16:creationId xmlns:a16="http://schemas.microsoft.com/office/drawing/2014/main" id="{BE9AD1CC-CA1E-422C-9DF0-4791E28932CD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r">
              <a:buNone/>
              <a:def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9" name="federated-server-card">
            <a:extLst>
              <a:ext uri="{FF2B5EF4-FFF2-40B4-BE49-F238E27FC236}">
                <a16:creationId xmlns:a16="http://schemas.microsoft.com/office/drawing/2014/main" id="{311CB448-12E0-4212-9CF5-C1EAFB85DF79}"/>
              </a:ext>
            </a:extLst>
          </p:cNvPr>
          <p:cNvSpPr>
            <a:spLocks noGrp="1"/>
          </p:cNvSpPr>
          <p:nvPr/>
        </p:nvSpPr>
        <p:spPr>
          <a:xfrm>
            <a:off x="3524250" y="1619250"/>
            <a:ext cx="5143500" cy="1095375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 w="9525">
            <a:solidFill>
              <a:srgbClr val="D8DFDD"/>
            </a:solidFill>
            <a:prstDash val="solid"/>
          </a:ln>
        </p:spPr>
      </p:sp>
      <p:sp>
        <p:nvSpPr>
          <p:cNvPr id="10" name="federated-server-tag-surface">
            <a:extLst>
              <a:ext uri="{FF2B5EF4-FFF2-40B4-BE49-F238E27FC236}">
                <a16:creationId xmlns:a16="http://schemas.microsoft.com/office/drawing/2014/main" id="{0AD15164-1E2D-4A99-A565-FE2C5BE647B0}"/>
              </a:ext>
            </a:extLst>
          </p:cNvPr>
          <p:cNvSpPr>
            <a:spLocks noGrp="1"/>
          </p:cNvSpPr>
          <p:nvPr/>
        </p:nvSpPr>
        <p:spPr>
          <a:xfrm>
            <a:off x="3752850" y="1752600"/>
            <a:ext cx="1066800" cy="323850"/>
          </a:xfrm>
          <a:prstGeom prst="roundRect">
            <a:avLst>
              <a:gd name="adj" fmla="val 41176"/>
            </a:avLst>
          </a:prstGeom>
          <a:solidFill>
            <a:srgbClr val="E6F2F0"/>
          </a:solidFill>
          <a:ln w="9525">
            <a:solidFill>
              <a:srgbClr val="E6F2F0"/>
            </a:solidFill>
            <a:prstDash val="solid"/>
          </a:ln>
        </p:spPr>
      </p:sp>
      <p:sp>
        <p:nvSpPr>
          <p:cNvPr id="11" name="federated-server-tag-text">
            <a:extLst>
              <a:ext uri="{FF2B5EF4-FFF2-40B4-BE49-F238E27FC236}">
                <a16:creationId xmlns:a16="http://schemas.microsoft.com/office/drawing/2014/main" id="{26ACCBE2-2B5B-421E-9991-53855FA78468}"/>
              </a:ext>
            </a:extLst>
          </p:cNvPr>
          <p:cNvSpPr>
            <a:spLocks noGrp="1"/>
          </p:cNvSpPr>
          <p:nvPr/>
        </p:nvSpPr>
        <p:spPr>
          <a:xfrm>
            <a:off x="3819525" y="1762125"/>
            <a:ext cx="9334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20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服务器</a:t>
            </a:r>
          </a:p>
        </p:txBody>
      </p:sp>
      <p:sp>
        <p:nvSpPr>
          <p:cNvPr id="12" name="federated-server-state">
            <a:extLst>
              <a:ext uri="{FF2B5EF4-FFF2-40B4-BE49-F238E27FC236}">
                <a16:creationId xmlns:a16="http://schemas.microsoft.com/office/drawing/2014/main" id="{CA78DA77-90FA-4ADA-8313-DBDE0573F553}"/>
              </a:ext>
            </a:extLst>
          </p:cNvPr>
          <p:cNvSpPr>
            <a:spLocks noGrp="1"/>
          </p:cNvSpPr>
          <p:nvPr/>
        </p:nvSpPr>
        <p:spPr>
          <a:xfrm>
            <a:off x="5029200" y="1762125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8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当前共享模型  θₜ</a:t>
            </a:r>
          </a:p>
        </p:txBody>
      </p:sp>
      <p:sp>
        <p:nvSpPr>
          <p:cNvPr id="13" name="federated-server-avg">
            <a:extLst>
              <a:ext uri="{FF2B5EF4-FFF2-40B4-BE49-F238E27FC236}">
                <a16:creationId xmlns:a16="http://schemas.microsoft.com/office/drawing/2014/main" id="{BCED8F84-2257-43FA-96B6-2A775BD96359}"/>
              </a:ext>
            </a:extLst>
          </p:cNvPr>
          <p:cNvSpPr>
            <a:spLocks noGrp="1"/>
          </p:cNvSpPr>
          <p:nvPr/>
        </p:nvSpPr>
        <p:spPr>
          <a:xfrm>
            <a:off x="3752850" y="2200275"/>
            <a:ext cx="4686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350" b="0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C5A"/>
                </a:solidFill>
                <a:latin typeface="Microsoft YaHei"/>
                <a:ea typeface="Microsoft YaHei"/>
                <a:cs typeface="Microsoft YaHei"/>
              </a:rPr>
              <a:t>等权示意：θₜ₊₁ = (θ₁ + θ₂ + … + θₖ) / K</a:t>
            </a:r>
          </a:p>
        </p:txBody>
      </p:sp>
      <p:sp>
        <p:nvSpPr>
          <p:cNvPr id="14" name="federated-download-cue">
            <a:extLst>
              <a:ext uri="{FF2B5EF4-FFF2-40B4-BE49-F238E27FC236}">
                <a16:creationId xmlns:a16="http://schemas.microsoft.com/office/drawing/2014/main" id="{DE992D45-D0FE-43C0-BF91-7D01A38C3ECA}"/>
              </a:ext>
            </a:extLst>
          </p:cNvPr>
          <p:cNvSpPr>
            <a:spLocks noGrp="1"/>
          </p:cNvSpPr>
          <p:nvPr/>
        </p:nvSpPr>
        <p:spPr>
          <a:xfrm>
            <a:off x="619125" y="2828925"/>
            <a:ext cx="10953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2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服务器下发 θₜ                 本地训练后上传 θᵢ                 服务器平均本轮模型并开始下一轮</a:t>
            </a:r>
          </a:p>
        </p:txBody>
      </p:sp>
      <p:sp>
        <p:nvSpPr>
          <p:cNvPr id="15" name="client-panel-0">
            <a:extLst>
              <a:ext uri="{FF2B5EF4-FFF2-40B4-BE49-F238E27FC236}">
                <a16:creationId xmlns:a16="http://schemas.microsoft.com/office/drawing/2014/main" id="{10C20FDA-7374-4172-958A-F3231D51EE37}"/>
              </a:ext>
            </a:extLst>
          </p:cNvPr>
          <p:cNvSpPr>
            <a:spLocks noGrp="1"/>
          </p:cNvSpPr>
          <p:nvPr/>
        </p:nvSpPr>
        <p:spPr>
          <a:xfrm>
            <a:off x="609600" y="3248025"/>
            <a:ext cx="3429000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DFDD"/>
            </a:solidFill>
            <a:prstDash val="solid"/>
          </a:ln>
        </p:spPr>
      </p:sp>
      <p:sp>
        <p:nvSpPr>
          <p:cNvPr id="16" name="client-title-0">
            <a:extLst>
              <a:ext uri="{FF2B5EF4-FFF2-40B4-BE49-F238E27FC236}">
                <a16:creationId xmlns:a16="http://schemas.microsoft.com/office/drawing/2014/main" id="{F95FF6C1-1EB7-4DA8-B3FD-EB62F8C980A1}"/>
              </a:ext>
            </a:extLst>
          </p:cNvPr>
          <p:cNvSpPr>
            <a:spLocks noGrp="1"/>
          </p:cNvSpPr>
          <p:nvPr/>
        </p:nvSpPr>
        <p:spPr>
          <a:xfrm>
            <a:off x="790575" y="3371850"/>
            <a:ext cx="3067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5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客户端 1</a:t>
            </a:r>
          </a:p>
        </p:txBody>
      </p:sp>
      <p:sp>
        <p:nvSpPr>
          <p:cNvPr id="17" name="client-dataset-0">
            <a:extLst>
              <a:ext uri="{FF2B5EF4-FFF2-40B4-BE49-F238E27FC236}">
                <a16:creationId xmlns:a16="http://schemas.microsoft.com/office/drawing/2014/main" id="{43D64402-8CEA-41A0-8002-FACB0B3985AC}"/>
              </a:ext>
            </a:extLst>
          </p:cNvPr>
          <p:cNvSpPr>
            <a:spLocks noGrp="1"/>
          </p:cNvSpPr>
          <p:nvPr/>
        </p:nvSpPr>
        <p:spPr>
          <a:xfrm>
            <a:off x="781050" y="3781425"/>
            <a:ext cx="3086100" cy="457200"/>
          </a:xfrm>
          <a:prstGeom prst="roundRect">
            <a:avLst>
              <a:gd name="adj" fmla="val 20833"/>
            </a:avLst>
          </a:prstGeom>
          <a:solidFill>
            <a:srgbClr val="EAF0F3"/>
          </a:solidFill>
          <a:ln w="9525">
            <a:solidFill>
              <a:srgbClr val="EAF0F3"/>
            </a:solidFill>
            <a:prstDash val="solid"/>
          </a:ln>
        </p:spPr>
      </p:sp>
      <p:sp>
        <p:nvSpPr>
          <p:cNvPr id="18" name="client-dataset-label-0">
            <a:extLst>
              <a:ext uri="{FF2B5EF4-FFF2-40B4-BE49-F238E27FC236}">
                <a16:creationId xmlns:a16="http://schemas.microsoft.com/office/drawing/2014/main" id="{C8693603-7F39-40FB-8715-44DAF7FB218C}"/>
              </a:ext>
            </a:extLst>
          </p:cNvPr>
          <p:cNvSpPr>
            <a:spLocks noGrp="1"/>
          </p:cNvSpPr>
          <p:nvPr/>
        </p:nvSpPr>
        <p:spPr>
          <a:xfrm>
            <a:off x="866775" y="3819525"/>
            <a:ext cx="2914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200" b="0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rPr>
              <a:t>本地新闻：球队赢下决赛</a:t>
            </a:r>
          </a:p>
        </p:txBody>
      </p:sp>
      <p:sp>
        <p:nvSpPr>
          <p:cNvPr id="19" name="client-update-label-0">
            <a:extLst>
              <a:ext uri="{FF2B5EF4-FFF2-40B4-BE49-F238E27FC236}">
                <a16:creationId xmlns:a16="http://schemas.microsoft.com/office/drawing/2014/main" id="{99C57A60-02F2-495E-91CB-A4AB1B373210}"/>
              </a:ext>
            </a:extLst>
          </p:cNvPr>
          <p:cNvSpPr>
            <a:spLocks noGrp="1"/>
          </p:cNvSpPr>
          <p:nvPr/>
        </p:nvSpPr>
        <p:spPr>
          <a:xfrm>
            <a:off x="800100" y="4324350"/>
            <a:ext cx="304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1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本地训练后的模型</a:t>
            </a:r>
          </a:p>
        </p:txBody>
      </p:sp>
      <p:sp>
        <p:nvSpPr>
          <p:cNvPr id="20" name="client-a-0">
            <a:extLst>
              <a:ext uri="{FF2B5EF4-FFF2-40B4-BE49-F238E27FC236}">
                <a16:creationId xmlns:a16="http://schemas.microsoft.com/office/drawing/2014/main" id="{758D32B1-E4E9-4EE9-A5E9-13F5CF7C87FE}"/>
              </a:ext>
            </a:extLst>
          </p:cNvPr>
          <p:cNvSpPr>
            <a:spLocks noGrp="1"/>
          </p:cNvSpPr>
          <p:nvPr/>
        </p:nvSpPr>
        <p:spPr>
          <a:xfrm>
            <a:off x="1390650" y="4648200"/>
            <a:ext cx="781050" cy="390525"/>
          </a:xfrm>
          <a:prstGeom prst="roundRect">
            <a:avLst>
              <a:gd name="adj" fmla="val 24390"/>
            </a:avLst>
          </a:prstGeom>
          <a:solidFill>
            <a:srgbClr val="E6F2F0"/>
          </a:solidFill>
          <a:ln w="9525">
            <a:solidFill>
              <a:srgbClr val="E6F2F0"/>
            </a:solidFill>
            <a:prstDash val="solid"/>
          </a:ln>
        </p:spPr>
      </p:sp>
      <p:sp>
        <p:nvSpPr>
          <p:cNvPr id="21" name="client-a-label-0">
            <a:extLst>
              <a:ext uri="{FF2B5EF4-FFF2-40B4-BE49-F238E27FC236}">
                <a16:creationId xmlns:a16="http://schemas.microsoft.com/office/drawing/2014/main" id="{E69D228D-F725-4E77-B002-692D5DBF2599}"/>
              </a:ext>
            </a:extLst>
          </p:cNvPr>
          <p:cNvSpPr>
            <a:spLocks noGrp="1"/>
          </p:cNvSpPr>
          <p:nvPr/>
        </p:nvSpPr>
        <p:spPr>
          <a:xfrm>
            <a:off x="1466850" y="4676775"/>
            <a:ext cx="6286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留在本地</a:t>
            </a:r>
          </a:p>
        </p:txBody>
      </p:sp>
      <p:sp>
        <p:nvSpPr>
          <p:cNvPr id="22" name="client-b-0">
            <a:extLst>
              <a:ext uri="{FF2B5EF4-FFF2-40B4-BE49-F238E27FC236}">
                <a16:creationId xmlns:a16="http://schemas.microsoft.com/office/drawing/2014/main" id="{93BC69DC-641A-4208-936B-0A74E0582BE9}"/>
              </a:ext>
            </a:extLst>
          </p:cNvPr>
          <p:cNvSpPr>
            <a:spLocks noGrp="1"/>
          </p:cNvSpPr>
          <p:nvPr/>
        </p:nvSpPr>
        <p:spPr>
          <a:xfrm>
            <a:off x="2419350" y="4648200"/>
            <a:ext cx="781050" cy="390525"/>
          </a:xfrm>
          <a:prstGeom prst="roundRect">
            <a:avLst>
              <a:gd name="adj" fmla="val 24390"/>
            </a:avLst>
          </a:prstGeom>
          <a:solidFill>
            <a:srgbClr val="F8F0DE"/>
          </a:solidFill>
          <a:ln w="9525">
            <a:solidFill>
              <a:srgbClr val="F8F0DE"/>
            </a:solidFill>
            <a:prstDash val="solid"/>
          </a:ln>
        </p:spPr>
      </p:sp>
      <p:sp>
        <p:nvSpPr>
          <p:cNvPr id="23" name="client-b-label-0">
            <a:extLst>
              <a:ext uri="{FF2B5EF4-FFF2-40B4-BE49-F238E27FC236}">
                <a16:creationId xmlns:a16="http://schemas.microsoft.com/office/drawing/2014/main" id="{74A0BAC6-8610-45A5-8351-A152566B7A29}"/>
              </a:ext>
            </a:extLst>
          </p:cNvPr>
          <p:cNvSpPr>
            <a:spLocks noGrp="1"/>
          </p:cNvSpPr>
          <p:nvPr/>
        </p:nvSpPr>
        <p:spPr>
          <a:xfrm>
            <a:off x="2495550" y="4676775"/>
            <a:ext cx="6286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更新上传</a:t>
            </a:r>
          </a:p>
        </p:txBody>
      </p:sp>
      <p:sp>
        <p:nvSpPr>
          <p:cNvPr id="24" name="client-panel-1">
            <a:extLst>
              <a:ext uri="{FF2B5EF4-FFF2-40B4-BE49-F238E27FC236}">
                <a16:creationId xmlns:a16="http://schemas.microsoft.com/office/drawing/2014/main" id="{F72419FE-1415-48E1-8256-80523144FDA6}"/>
              </a:ext>
            </a:extLst>
          </p:cNvPr>
          <p:cNvSpPr>
            <a:spLocks noGrp="1"/>
          </p:cNvSpPr>
          <p:nvPr/>
        </p:nvSpPr>
        <p:spPr>
          <a:xfrm>
            <a:off x="4343400" y="3248025"/>
            <a:ext cx="3429000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DFDD"/>
            </a:solidFill>
            <a:prstDash val="solid"/>
          </a:ln>
        </p:spPr>
      </p:sp>
      <p:sp>
        <p:nvSpPr>
          <p:cNvPr id="25" name="client-title-1">
            <a:extLst>
              <a:ext uri="{FF2B5EF4-FFF2-40B4-BE49-F238E27FC236}">
                <a16:creationId xmlns:a16="http://schemas.microsoft.com/office/drawing/2014/main" id="{1CBF8C13-614E-4224-BF72-0C259E0BF32A}"/>
              </a:ext>
            </a:extLst>
          </p:cNvPr>
          <p:cNvSpPr>
            <a:spLocks noGrp="1"/>
          </p:cNvSpPr>
          <p:nvPr/>
        </p:nvSpPr>
        <p:spPr>
          <a:xfrm>
            <a:off x="4524375" y="3371850"/>
            <a:ext cx="3067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5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客户端 2</a:t>
            </a:r>
          </a:p>
        </p:txBody>
      </p:sp>
      <p:sp>
        <p:nvSpPr>
          <p:cNvPr id="26" name="client-dataset-1">
            <a:extLst>
              <a:ext uri="{FF2B5EF4-FFF2-40B4-BE49-F238E27FC236}">
                <a16:creationId xmlns:a16="http://schemas.microsoft.com/office/drawing/2014/main" id="{46D52A05-F0B5-43C9-B739-CCF8AE8670C5}"/>
              </a:ext>
            </a:extLst>
          </p:cNvPr>
          <p:cNvSpPr>
            <a:spLocks noGrp="1"/>
          </p:cNvSpPr>
          <p:nvPr/>
        </p:nvSpPr>
        <p:spPr>
          <a:xfrm>
            <a:off x="4514850" y="3781425"/>
            <a:ext cx="3086100" cy="457200"/>
          </a:xfrm>
          <a:prstGeom prst="roundRect">
            <a:avLst>
              <a:gd name="adj" fmla="val 20833"/>
            </a:avLst>
          </a:prstGeom>
          <a:solidFill>
            <a:srgbClr val="EAF0F3"/>
          </a:solidFill>
          <a:ln w="9525">
            <a:solidFill>
              <a:srgbClr val="EAF0F3"/>
            </a:solidFill>
            <a:prstDash val="solid"/>
          </a:ln>
        </p:spPr>
      </p:sp>
      <p:sp>
        <p:nvSpPr>
          <p:cNvPr id="27" name="client-dataset-label-1">
            <a:extLst>
              <a:ext uri="{FF2B5EF4-FFF2-40B4-BE49-F238E27FC236}">
                <a16:creationId xmlns:a16="http://schemas.microsoft.com/office/drawing/2014/main" id="{D18C5C62-8CF8-4A72-8803-B32B39E03104}"/>
              </a:ext>
            </a:extLst>
          </p:cNvPr>
          <p:cNvSpPr>
            <a:spLocks noGrp="1"/>
          </p:cNvSpPr>
          <p:nvPr/>
        </p:nvSpPr>
        <p:spPr>
          <a:xfrm>
            <a:off x="4600575" y="3819525"/>
            <a:ext cx="2914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200" b="0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rPr>
              <a:t>本地新闻：公司发布财报</a:t>
            </a:r>
          </a:p>
        </p:txBody>
      </p:sp>
      <p:sp>
        <p:nvSpPr>
          <p:cNvPr id="28" name="client-update-label-1">
            <a:extLst>
              <a:ext uri="{FF2B5EF4-FFF2-40B4-BE49-F238E27FC236}">
                <a16:creationId xmlns:a16="http://schemas.microsoft.com/office/drawing/2014/main" id="{225ABAB0-7369-4E8B-82C4-243552C31CEE}"/>
              </a:ext>
            </a:extLst>
          </p:cNvPr>
          <p:cNvSpPr>
            <a:spLocks noGrp="1"/>
          </p:cNvSpPr>
          <p:nvPr/>
        </p:nvSpPr>
        <p:spPr>
          <a:xfrm>
            <a:off x="4533900" y="4324350"/>
            <a:ext cx="304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1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本地训练后的模型</a:t>
            </a:r>
          </a:p>
        </p:txBody>
      </p:sp>
      <p:sp>
        <p:nvSpPr>
          <p:cNvPr id="29" name="client-a-1">
            <a:extLst>
              <a:ext uri="{FF2B5EF4-FFF2-40B4-BE49-F238E27FC236}">
                <a16:creationId xmlns:a16="http://schemas.microsoft.com/office/drawing/2014/main" id="{39019277-43BE-4AF5-B18C-292D611F9F62}"/>
              </a:ext>
            </a:extLst>
          </p:cNvPr>
          <p:cNvSpPr>
            <a:spLocks noGrp="1"/>
          </p:cNvSpPr>
          <p:nvPr/>
        </p:nvSpPr>
        <p:spPr>
          <a:xfrm>
            <a:off x="5124450" y="4648200"/>
            <a:ext cx="781050" cy="390525"/>
          </a:xfrm>
          <a:prstGeom prst="roundRect">
            <a:avLst>
              <a:gd name="adj" fmla="val 24390"/>
            </a:avLst>
          </a:prstGeom>
          <a:solidFill>
            <a:srgbClr val="E6F2F0"/>
          </a:solidFill>
          <a:ln w="9525">
            <a:solidFill>
              <a:srgbClr val="E6F2F0"/>
            </a:solidFill>
            <a:prstDash val="solid"/>
          </a:ln>
        </p:spPr>
      </p:sp>
      <p:sp>
        <p:nvSpPr>
          <p:cNvPr id="30" name="client-a-label-1">
            <a:extLst>
              <a:ext uri="{FF2B5EF4-FFF2-40B4-BE49-F238E27FC236}">
                <a16:creationId xmlns:a16="http://schemas.microsoft.com/office/drawing/2014/main" id="{83FDECC8-9D3E-462A-9358-E2D9C1052817}"/>
              </a:ext>
            </a:extLst>
          </p:cNvPr>
          <p:cNvSpPr>
            <a:spLocks noGrp="1"/>
          </p:cNvSpPr>
          <p:nvPr/>
        </p:nvSpPr>
        <p:spPr>
          <a:xfrm>
            <a:off x="5200650" y="4676775"/>
            <a:ext cx="6286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留在本地</a:t>
            </a:r>
          </a:p>
        </p:txBody>
      </p:sp>
      <p:sp>
        <p:nvSpPr>
          <p:cNvPr id="31" name="client-b-1">
            <a:extLst>
              <a:ext uri="{FF2B5EF4-FFF2-40B4-BE49-F238E27FC236}">
                <a16:creationId xmlns:a16="http://schemas.microsoft.com/office/drawing/2014/main" id="{BFE4FD49-22E8-45EA-BF2C-780DB4BF96C0}"/>
              </a:ext>
            </a:extLst>
          </p:cNvPr>
          <p:cNvSpPr>
            <a:spLocks noGrp="1"/>
          </p:cNvSpPr>
          <p:nvPr/>
        </p:nvSpPr>
        <p:spPr>
          <a:xfrm>
            <a:off x="6153150" y="4648200"/>
            <a:ext cx="781050" cy="390525"/>
          </a:xfrm>
          <a:prstGeom prst="roundRect">
            <a:avLst>
              <a:gd name="adj" fmla="val 24390"/>
            </a:avLst>
          </a:prstGeom>
          <a:solidFill>
            <a:srgbClr val="F8F0DE"/>
          </a:solidFill>
          <a:ln w="9525">
            <a:solidFill>
              <a:srgbClr val="F8F0DE"/>
            </a:solidFill>
            <a:prstDash val="solid"/>
          </a:ln>
        </p:spPr>
      </p:sp>
      <p:sp>
        <p:nvSpPr>
          <p:cNvPr id="32" name="client-b-label-1">
            <a:extLst>
              <a:ext uri="{FF2B5EF4-FFF2-40B4-BE49-F238E27FC236}">
                <a16:creationId xmlns:a16="http://schemas.microsoft.com/office/drawing/2014/main" id="{4B5890C6-7EB0-44B3-B2C2-842E9954C2C3}"/>
              </a:ext>
            </a:extLst>
          </p:cNvPr>
          <p:cNvSpPr>
            <a:spLocks noGrp="1"/>
          </p:cNvSpPr>
          <p:nvPr/>
        </p:nvSpPr>
        <p:spPr>
          <a:xfrm>
            <a:off x="6229350" y="4676775"/>
            <a:ext cx="6286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更新上传</a:t>
            </a:r>
          </a:p>
        </p:txBody>
      </p:sp>
      <p:sp>
        <p:nvSpPr>
          <p:cNvPr id="33" name="client-panel-2">
            <a:extLst>
              <a:ext uri="{FF2B5EF4-FFF2-40B4-BE49-F238E27FC236}">
                <a16:creationId xmlns:a16="http://schemas.microsoft.com/office/drawing/2014/main" id="{AAD25956-944C-496F-B128-6B47C0B499A8}"/>
              </a:ext>
            </a:extLst>
          </p:cNvPr>
          <p:cNvSpPr>
            <a:spLocks noGrp="1"/>
          </p:cNvSpPr>
          <p:nvPr/>
        </p:nvSpPr>
        <p:spPr>
          <a:xfrm>
            <a:off x="8077200" y="3248025"/>
            <a:ext cx="3429000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DFDD"/>
            </a:solidFill>
            <a:prstDash val="solid"/>
          </a:ln>
        </p:spPr>
      </p:sp>
      <p:sp>
        <p:nvSpPr>
          <p:cNvPr id="34" name="client-title-2">
            <a:extLst>
              <a:ext uri="{FF2B5EF4-FFF2-40B4-BE49-F238E27FC236}">
                <a16:creationId xmlns:a16="http://schemas.microsoft.com/office/drawing/2014/main" id="{75EDFF92-A584-442A-881F-DB39974124D6}"/>
              </a:ext>
            </a:extLst>
          </p:cNvPr>
          <p:cNvSpPr>
            <a:spLocks noGrp="1"/>
          </p:cNvSpPr>
          <p:nvPr/>
        </p:nvSpPr>
        <p:spPr>
          <a:xfrm>
            <a:off x="8258175" y="3371850"/>
            <a:ext cx="3067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5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客户端 3</a:t>
            </a:r>
          </a:p>
        </p:txBody>
      </p:sp>
      <p:sp>
        <p:nvSpPr>
          <p:cNvPr id="35" name="client-dataset-2">
            <a:extLst>
              <a:ext uri="{FF2B5EF4-FFF2-40B4-BE49-F238E27FC236}">
                <a16:creationId xmlns:a16="http://schemas.microsoft.com/office/drawing/2014/main" id="{0705B7F4-4853-4B34-B5BB-4CCE10FF5066}"/>
              </a:ext>
            </a:extLst>
          </p:cNvPr>
          <p:cNvSpPr>
            <a:spLocks noGrp="1"/>
          </p:cNvSpPr>
          <p:nvPr/>
        </p:nvSpPr>
        <p:spPr>
          <a:xfrm>
            <a:off x="8248650" y="3781425"/>
            <a:ext cx="3086100" cy="457200"/>
          </a:xfrm>
          <a:prstGeom prst="roundRect">
            <a:avLst>
              <a:gd name="adj" fmla="val 20833"/>
            </a:avLst>
          </a:prstGeom>
          <a:solidFill>
            <a:srgbClr val="EAF0F3"/>
          </a:solidFill>
          <a:ln w="9525">
            <a:solidFill>
              <a:srgbClr val="EAF0F3"/>
            </a:solidFill>
            <a:prstDash val="solid"/>
          </a:ln>
        </p:spPr>
      </p:sp>
      <p:sp>
        <p:nvSpPr>
          <p:cNvPr id="36" name="client-dataset-label-2">
            <a:extLst>
              <a:ext uri="{FF2B5EF4-FFF2-40B4-BE49-F238E27FC236}">
                <a16:creationId xmlns:a16="http://schemas.microsoft.com/office/drawing/2014/main" id="{AFAC4B88-4259-422F-A2D1-8EB5B5BCE46D}"/>
              </a:ext>
            </a:extLst>
          </p:cNvPr>
          <p:cNvSpPr>
            <a:spLocks noGrp="1"/>
          </p:cNvSpPr>
          <p:nvPr/>
        </p:nvSpPr>
        <p:spPr>
          <a:xfrm>
            <a:off x="8334375" y="3819525"/>
            <a:ext cx="2914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200" b="0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rPr>
              <a:t>本地新闻：新芯片亮相</a:t>
            </a:r>
          </a:p>
        </p:txBody>
      </p:sp>
      <p:sp>
        <p:nvSpPr>
          <p:cNvPr id="37" name="client-update-label-2">
            <a:extLst>
              <a:ext uri="{FF2B5EF4-FFF2-40B4-BE49-F238E27FC236}">
                <a16:creationId xmlns:a16="http://schemas.microsoft.com/office/drawing/2014/main" id="{A581202F-8011-45EF-BA9D-9451BE9A942F}"/>
              </a:ext>
            </a:extLst>
          </p:cNvPr>
          <p:cNvSpPr>
            <a:spLocks noGrp="1"/>
          </p:cNvSpPr>
          <p:nvPr/>
        </p:nvSpPr>
        <p:spPr>
          <a:xfrm>
            <a:off x="8267700" y="4324350"/>
            <a:ext cx="30480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1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本地训练后的模型</a:t>
            </a:r>
          </a:p>
        </p:txBody>
      </p:sp>
      <p:sp>
        <p:nvSpPr>
          <p:cNvPr id="38" name="client-a-2">
            <a:extLst>
              <a:ext uri="{FF2B5EF4-FFF2-40B4-BE49-F238E27FC236}">
                <a16:creationId xmlns:a16="http://schemas.microsoft.com/office/drawing/2014/main" id="{650081B1-CA75-44CF-BA65-7EA5D4D4801B}"/>
              </a:ext>
            </a:extLst>
          </p:cNvPr>
          <p:cNvSpPr>
            <a:spLocks noGrp="1"/>
          </p:cNvSpPr>
          <p:nvPr/>
        </p:nvSpPr>
        <p:spPr>
          <a:xfrm>
            <a:off x="8858250" y="4648200"/>
            <a:ext cx="781050" cy="390525"/>
          </a:xfrm>
          <a:prstGeom prst="roundRect">
            <a:avLst>
              <a:gd name="adj" fmla="val 24390"/>
            </a:avLst>
          </a:prstGeom>
          <a:solidFill>
            <a:srgbClr val="E6F2F0"/>
          </a:solidFill>
          <a:ln w="9525">
            <a:solidFill>
              <a:srgbClr val="E6F2F0"/>
            </a:solidFill>
            <a:prstDash val="solid"/>
          </a:ln>
        </p:spPr>
      </p:sp>
      <p:sp>
        <p:nvSpPr>
          <p:cNvPr id="39" name="client-a-label-2">
            <a:extLst>
              <a:ext uri="{FF2B5EF4-FFF2-40B4-BE49-F238E27FC236}">
                <a16:creationId xmlns:a16="http://schemas.microsoft.com/office/drawing/2014/main" id="{F501F95F-149C-408C-B061-0F94E1CDD42E}"/>
              </a:ext>
            </a:extLst>
          </p:cNvPr>
          <p:cNvSpPr>
            <a:spLocks noGrp="1"/>
          </p:cNvSpPr>
          <p:nvPr/>
        </p:nvSpPr>
        <p:spPr>
          <a:xfrm>
            <a:off x="8934450" y="4676775"/>
            <a:ext cx="6286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留在本地</a:t>
            </a:r>
          </a:p>
        </p:txBody>
      </p:sp>
      <p:sp>
        <p:nvSpPr>
          <p:cNvPr id="40" name="client-b-2">
            <a:extLst>
              <a:ext uri="{FF2B5EF4-FFF2-40B4-BE49-F238E27FC236}">
                <a16:creationId xmlns:a16="http://schemas.microsoft.com/office/drawing/2014/main" id="{ABF640A8-2B71-483F-AE24-1E287F72E646}"/>
              </a:ext>
            </a:extLst>
          </p:cNvPr>
          <p:cNvSpPr>
            <a:spLocks noGrp="1"/>
          </p:cNvSpPr>
          <p:nvPr/>
        </p:nvSpPr>
        <p:spPr>
          <a:xfrm>
            <a:off x="9886950" y="4648200"/>
            <a:ext cx="781050" cy="390525"/>
          </a:xfrm>
          <a:prstGeom prst="roundRect">
            <a:avLst>
              <a:gd name="adj" fmla="val 24390"/>
            </a:avLst>
          </a:prstGeom>
          <a:solidFill>
            <a:srgbClr val="F8F0DE"/>
          </a:solidFill>
          <a:ln w="9525">
            <a:solidFill>
              <a:srgbClr val="F8F0DE"/>
            </a:solidFill>
            <a:prstDash val="solid"/>
          </a:ln>
        </p:spPr>
      </p:sp>
      <p:sp>
        <p:nvSpPr>
          <p:cNvPr id="41" name="client-b-label-2">
            <a:extLst>
              <a:ext uri="{FF2B5EF4-FFF2-40B4-BE49-F238E27FC236}">
                <a16:creationId xmlns:a16="http://schemas.microsoft.com/office/drawing/2014/main" id="{D1EAEC1D-FD6F-47DD-932B-594EC3EBEBFE}"/>
              </a:ext>
            </a:extLst>
          </p:cNvPr>
          <p:cNvSpPr>
            <a:spLocks noGrp="1"/>
          </p:cNvSpPr>
          <p:nvPr/>
        </p:nvSpPr>
        <p:spPr>
          <a:xfrm>
            <a:off x="9963150" y="4676775"/>
            <a:ext cx="6286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更新上传</a:t>
            </a:r>
          </a:p>
        </p:txBody>
      </p:sp>
      <p:sp>
        <p:nvSpPr>
          <p:cNvPr id="42" name="federated-caution-strip">
            <a:extLst>
              <a:ext uri="{FF2B5EF4-FFF2-40B4-BE49-F238E27FC236}">
                <a16:creationId xmlns:a16="http://schemas.microsoft.com/office/drawing/2014/main" id="{BBE32D6A-7DA9-4878-B6FC-0DA73809C2FA}"/>
              </a:ext>
            </a:extLst>
          </p:cNvPr>
          <p:cNvSpPr>
            <a:spLocks noGrp="1"/>
          </p:cNvSpPr>
          <p:nvPr/>
        </p:nvSpPr>
        <p:spPr>
          <a:xfrm>
            <a:off x="609600" y="5476875"/>
            <a:ext cx="10972800" cy="581025"/>
          </a:xfrm>
          <a:prstGeom prst="roundRect">
            <a:avLst>
              <a:gd name="adj" fmla="val 21311"/>
            </a:avLst>
          </a:prstGeom>
          <a:solidFill>
            <a:srgbClr val="F8F0DE"/>
          </a:solidFill>
          <a:ln w="9525">
            <a:solidFill>
              <a:srgbClr val="F8F0DE"/>
            </a:solidFill>
            <a:prstDash val="solid"/>
          </a:ln>
        </p:spPr>
      </p:sp>
      <p:sp>
        <p:nvSpPr>
          <p:cNvPr id="43" name="federated-caution-text">
            <a:extLst>
              <a:ext uri="{FF2B5EF4-FFF2-40B4-BE49-F238E27FC236}">
                <a16:creationId xmlns:a16="http://schemas.microsoft.com/office/drawing/2014/main" id="{4029A61B-6078-47CB-AEF4-3E92F289972E}"/>
              </a:ext>
            </a:extLst>
          </p:cNvPr>
          <p:cNvSpPr>
            <a:spLocks noGrp="1"/>
          </p:cNvSpPr>
          <p:nvPr/>
        </p:nvSpPr>
        <p:spPr>
          <a:xfrm>
            <a:off x="781050" y="5534025"/>
            <a:ext cx="10629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原始新闻不上传；客户端只发送模型更新。具体共享哪些参数，由算法决定。</a:t>
            </a:r>
          </a:p>
        </p:txBody>
      </p:sp>
    </p:spTree>
    <p:extLst>
      <p:ext uri="{BB962C8B-B14F-4D97-AF65-F5344CB8AC3E}">
        <p14:creationId xmlns:p14="http://schemas.microsoft.com/office/powerpoint/2010/main" val="1161851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6C6F22C0-8699-42E0-B928-74C0BF2C1A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87F8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1810A9-64DE-417B-8DF6-3C55E9FECF52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问题从哪里来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7DDFAF-3BBE-4189-8320-D540E0B7D2E8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9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设备能力不同，数据分布也不一样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DEBCEB-A5E0-462D-AAFB-7C73952466FD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样本留在各端；还要决定哪些模型参数共享，以及每端能训练多深。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598D38-7CAE-454A-98A1-D69657F7E2EA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9525"/>
          </a:xfrm>
          <a:prstGeom prst="rect">
            <a:avLst/>
          </a:prstGeom>
          <a:solidFill>
            <a:srgbClr val="CCD4D4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38D20F-5056-4A92-B5F2-A97F8A8C00B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联邦 LoRA 个性化  ·  HetSA-LoRA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9B99E0-0375-4CCE-A2C7-890413ACA96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050" b="1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D8EE33-B277-478A-A4C1-53496820C2A3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3048000" cy="23050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AE2FEA-DC70-40C9-9DE8-2A63D350968F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3048000" cy="85725"/>
          </a:xfrm>
          <a:prstGeom prst="rect">
            <a:avLst/>
          </a:prstGeom>
          <a:solidFill>
            <a:srgbClr val="D99D36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F324F47-F5EA-466C-9C54-64A2FD8C476F}"/>
              </a:ext>
            </a:extLst>
          </p:cNvPr>
          <p:cNvSpPr>
            <a:spLocks noGrp="1"/>
          </p:cNvSpPr>
          <p:nvPr/>
        </p:nvSpPr>
        <p:spPr>
          <a:xfrm>
            <a:off x="971550" y="1943100"/>
            <a:ext cx="2590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低资源客户端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E88825-97C0-4C66-A75F-CF44B596780E}"/>
              </a:ext>
            </a:extLst>
          </p:cNvPr>
          <p:cNvSpPr>
            <a:spLocks noGrp="1"/>
          </p:cNvSpPr>
          <p:nvPr/>
        </p:nvSpPr>
        <p:spPr>
          <a:xfrm>
            <a:off x="971550" y="2476500"/>
            <a:ext cx="2590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600" b="1">
                <a:solidFill>
                  <a:srgbClr val="D99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D99D36"/>
                </a:solidFill>
                <a:latin typeface="Microsoft YaHei"/>
                <a:ea typeface="Microsoft YaHei"/>
                <a:cs typeface="Microsoft YaHei"/>
              </a:rPr>
              <a:t>6 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B5155B-42A4-4E54-A3C3-E2F359C1B22A}"/>
              </a:ext>
            </a:extLst>
          </p:cNvPr>
          <p:cNvSpPr>
            <a:spLocks noGrp="1"/>
          </p:cNvSpPr>
          <p:nvPr/>
        </p:nvSpPr>
        <p:spPr>
          <a:xfrm>
            <a:off x="971550" y="3152775"/>
            <a:ext cx="2590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较小训练预算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7904111-7A43-4EAA-BBDA-C505E50658B8}"/>
              </a:ext>
            </a:extLst>
          </p:cNvPr>
          <p:cNvSpPr>
            <a:spLocks noGrp="1"/>
          </p:cNvSpPr>
          <p:nvPr/>
        </p:nvSpPr>
        <p:spPr>
          <a:xfrm>
            <a:off x="4438650" y="1695450"/>
            <a:ext cx="3048000" cy="23050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B530D60-26EB-47BC-A041-65FD1E625D77}"/>
              </a:ext>
            </a:extLst>
          </p:cNvPr>
          <p:cNvSpPr>
            <a:spLocks noGrp="1"/>
          </p:cNvSpPr>
          <p:nvPr/>
        </p:nvSpPr>
        <p:spPr>
          <a:xfrm>
            <a:off x="4438650" y="1695450"/>
            <a:ext cx="3048000" cy="85725"/>
          </a:xfrm>
          <a:prstGeom prst="rect">
            <a:avLst/>
          </a:prstGeom>
          <a:solidFill>
            <a:srgbClr val="477F9B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D2726B6-AC32-4DD3-9B19-D4B5CCB496AA}"/>
              </a:ext>
            </a:extLst>
          </p:cNvPr>
          <p:cNvSpPr>
            <a:spLocks noGrp="1"/>
          </p:cNvSpPr>
          <p:nvPr/>
        </p:nvSpPr>
        <p:spPr>
          <a:xfrm>
            <a:off x="4667250" y="1943100"/>
            <a:ext cx="2590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中资源客户端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BAB4A02-4F7F-45DB-9058-8E1EAD5348FF}"/>
              </a:ext>
            </a:extLst>
          </p:cNvPr>
          <p:cNvSpPr>
            <a:spLocks noGrp="1"/>
          </p:cNvSpPr>
          <p:nvPr/>
        </p:nvSpPr>
        <p:spPr>
          <a:xfrm>
            <a:off x="4667250" y="2476500"/>
            <a:ext cx="2590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600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rPr>
              <a:t>9 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9D5E86-C2FD-4C6C-BE85-D72F55BCC8CD}"/>
              </a:ext>
            </a:extLst>
          </p:cNvPr>
          <p:cNvSpPr>
            <a:spLocks noGrp="1"/>
          </p:cNvSpPr>
          <p:nvPr/>
        </p:nvSpPr>
        <p:spPr>
          <a:xfrm>
            <a:off x="4667250" y="3152775"/>
            <a:ext cx="2590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中等训练预算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FCE69DB-6747-444E-A802-B23CCAB0DBFE}"/>
              </a:ext>
            </a:extLst>
          </p:cNvPr>
          <p:cNvSpPr>
            <a:spLocks noGrp="1"/>
          </p:cNvSpPr>
          <p:nvPr/>
        </p:nvSpPr>
        <p:spPr>
          <a:xfrm>
            <a:off x="8134350" y="1695450"/>
            <a:ext cx="3048000" cy="23050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B3D36D0-1424-49F8-838A-C051372674DE}"/>
              </a:ext>
            </a:extLst>
          </p:cNvPr>
          <p:cNvSpPr>
            <a:spLocks noGrp="1"/>
          </p:cNvSpPr>
          <p:nvPr/>
        </p:nvSpPr>
        <p:spPr>
          <a:xfrm>
            <a:off x="8134350" y="1695450"/>
            <a:ext cx="3048000" cy="85725"/>
          </a:xfrm>
          <a:prstGeom prst="rect">
            <a:avLst/>
          </a:prstGeom>
          <a:solidFill>
            <a:srgbClr val="087F88"/>
          </a:solidFill>
          <a:ln w="0"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1FAB6E6-FB57-4EF8-BFE8-91BC71A6D07E}"/>
              </a:ext>
            </a:extLst>
          </p:cNvPr>
          <p:cNvSpPr>
            <a:spLocks noGrp="1"/>
          </p:cNvSpPr>
          <p:nvPr/>
        </p:nvSpPr>
        <p:spPr>
          <a:xfrm>
            <a:off x="8362950" y="1943100"/>
            <a:ext cx="2590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高资源客户端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9A9C5FB-6A81-4B54-833D-B4195F1C64B9}"/>
              </a:ext>
            </a:extLst>
          </p:cNvPr>
          <p:cNvSpPr>
            <a:spLocks noGrp="1"/>
          </p:cNvSpPr>
          <p:nvPr/>
        </p:nvSpPr>
        <p:spPr>
          <a:xfrm>
            <a:off x="8362950" y="2476500"/>
            <a:ext cx="2590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60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12 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DF3EA48-367B-4F41-A4F0-A21F18513D2F}"/>
              </a:ext>
            </a:extLst>
          </p:cNvPr>
          <p:cNvSpPr>
            <a:spLocks noGrp="1"/>
          </p:cNvSpPr>
          <p:nvPr/>
        </p:nvSpPr>
        <p:spPr>
          <a:xfrm>
            <a:off x="8362950" y="3152775"/>
            <a:ext cx="2590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较大训练预算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04B1823-8E2A-476F-861B-568F09E30246}"/>
              </a:ext>
            </a:extLst>
          </p:cNvPr>
          <p:cNvSpPr>
            <a:spLocks noGrp="1"/>
          </p:cNvSpPr>
          <p:nvPr/>
        </p:nvSpPr>
        <p:spPr>
          <a:xfrm>
            <a:off x="742950" y="4391025"/>
            <a:ext cx="10439400" cy="1085850"/>
          </a:xfrm>
          <a:prstGeom prst="rect">
            <a:avLst/>
          </a:prstGeom>
          <a:solidFill>
            <a:srgbClr val="122A39"/>
          </a:solidFill>
          <a:ln w="0"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7171D75-95AB-405D-9795-5165D4C81153}"/>
              </a:ext>
            </a:extLst>
          </p:cNvPr>
          <p:cNvSpPr>
            <a:spLocks noGrp="1"/>
          </p:cNvSpPr>
          <p:nvPr/>
        </p:nvSpPr>
        <p:spPr>
          <a:xfrm>
            <a:off x="1028700" y="4429125"/>
            <a:ext cx="986790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既要让低资源客户端能训练，也要保留每台设备的个性化能力。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C1109D1-0C65-4751-B0FA-0D4B2EA80989}"/>
              </a:ext>
            </a:extLst>
          </p:cNvPr>
          <p:cNvSpPr>
            <a:spLocks noGrp="1"/>
          </p:cNvSpPr>
          <p:nvPr/>
        </p:nvSpPr>
        <p:spPr>
          <a:xfrm>
            <a:off x="742950" y="5638800"/>
            <a:ext cx="10439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20 个客户端的数据类别分布不同；样本留在本地，比较时固定层预算。</a:t>
            </a:r>
          </a:p>
        </p:txBody>
      </p:sp>
    </p:spTree>
    <p:extLst>
      <p:ext uri="{BB962C8B-B14F-4D97-AF65-F5344CB8AC3E}">
        <p14:creationId xmlns:p14="http://schemas.microsoft.com/office/powerpoint/2010/main" val="321272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A8820C76-C9A2-46C9-85FE-333CED4F57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87F8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165BBE1-1A62-46E7-ABA6-237DBB7ABA69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方法来源  ·  已有研究线索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4CE8D8-B0D5-4F07-98E7-34223C018E06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9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这个方法组合了两条已有研究路线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FB7E06-1ADC-49A3-90C0-05E50B8E7F44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因子共享与资源层分配都有先例；本项目检验它们组合后的表现。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D2FAED-8116-476F-90DD-37607B1C9E23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9525"/>
          </a:xfrm>
          <a:prstGeom prst="rect">
            <a:avLst/>
          </a:prstGeom>
          <a:solidFill>
            <a:srgbClr val="CCD4D4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F3A9445-010F-4B05-8896-B26524D0955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联邦 LoRA 个性化  ·  HetSA-LoRA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F23C48-3F20-480E-B2D7-9466FE27643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050" b="1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AB2124-99C9-4E4D-B3FD-0ACC2E5FBDB8}"/>
              </a:ext>
            </a:extLst>
          </p:cNvPr>
          <p:cNvSpPr>
            <a:spLocks noGrp="1"/>
          </p:cNvSpPr>
          <p:nvPr/>
        </p:nvSpPr>
        <p:spPr>
          <a:xfrm>
            <a:off x="742950" y="1657350"/>
            <a:ext cx="2571750" cy="647700"/>
          </a:xfrm>
          <a:prstGeom prst="rect">
            <a:avLst/>
          </a:prstGeom>
          <a:solidFill>
            <a:srgbClr val="DCEFEB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6BD076-DB7F-4F2F-AAE2-4C463580272B}"/>
              </a:ext>
            </a:extLst>
          </p:cNvPr>
          <p:cNvSpPr>
            <a:spLocks noGrp="1"/>
          </p:cNvSpPr>
          <p:nvPr/>
        </p:nvSpPr>
        <p:spPr>
          <a:xfrm>
            <a:off x="857250" y="1695450"/>
            <a:ext cx="2343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因子共享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91B0800-2126-4A1A-9644-CAFBAD2BCA1A}"/>
              </a:ext>
            </a:extLst>
          </p:cNvPr>
          <p:cNvSpPr>
            <a:spLocks noGrp="1"/>
          </p:cNvSpPr>
          <p:nvPr/>
        </p:nvSpPr>
        <p:spPr>
          <a:xfrm>
            <a:off x="3695700" y="1666875"/>
            <a:ext cx="3619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FedSA-LoRA（2025）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4B206DE-9155-4A61-887B-946BC5242635}"/>
              </a:ext>
            </a:extLst>
          </p:cNvPr>
          <p:cNvSpPr>
            <a:spLocks noGrp="1"/>
          </p:cNvSpPr>
          <p:nvPr/>
        </p:nvSpPr>
        <p:spPr>
          <a:xfrm>
            <a:off x="3695700" y="1981200"/>
            <a:ext cx="6858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已有工作提出共享 A、保留客户端 B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1350A0E-9AFA-417E-8A1A-640C7666145D}"/>
              </a:ext>
            </a:extLst>
          </p:cNvPr>
          <p:cNvSpPr>
            <a:spLocks noGrp="1"/>
          </p:cNvSpPr>
          <p:nvPr/>
        </p:nvSpPr>
        <p:spPr>
          <a:xfrm>
            <a:off x="742950" y="2552700"/>
            <a:ext cx="2571750" cy="647700"/>
          </a:xfrm>
          <a:prstGeom prst="rect">
            <a:avLst/>
          </a:prstGeom>
          <a:solidFill>
            <a:srgbClr val="E3EDF2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4544B-E3F6-4D9D-AC53-669AFCEC84EC}"/>
              </a:ext>
            </a:extLst>
          </p:cNvPr>
          <p:cNvSpPr>
            <a:spLocks noGrp="1"/>
          </p:cNvSpPr>
          <p:nvPr/>
        </p:nvSpPr>
        <p:spPr>
          <a:xfrm>
            <a:off x="857250" y="2590800"/>
            <a:ext cx="2343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资源深度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828D5AF-8005-4F86-8DD6-E891D631C2C8}"/>
              </a:ext>
            </a:extLst>
          </p:cNvPr>
          <p:cNvSpPr>
            <a:spLocks noGrp="1"/>
          </p:cNvSpPr>
          <p:nvPr/>
        </p:nvSpPr>
        <p:spPr>
          <a:xfrm>
            <a:off x="3695700" y="2562225"/>
            <a:ext cx="3619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7482"/>
          </a:bodyPr>
          <a:lstStyle/>
          <a:p>
            <a:pPr algn="l">
              <a:buNone/>
              <a:defRPr sz="1500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rPr>
              <a:t>LEGEND（2024） / Fed-HeLLo（2025）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CCA2B67-EDA9-47B3-B8E9-19DC2C6D3DF6}"/>
              </a:ext>
            </a:extLst>
          </p:cNvPr>
          <p:cNvSpPr>
            <a:spLocks noGrp="1"/>
          </p:cNvSpPr>
          <p:nvPr/>
        </p:nvSpPr>
        <p:spPr>
          <a:xfrm>
            <a:off x="3695700" y="2876550"/>
            <a:ext cx="6858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按设备资源分配 LoRA 深度或层位置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AFE5412-24CB-4B4F-96B0-45D3A66F33FF}"/>
              </a:ext>
            </a:extLst>
          </p:cNvPr>
          <p:cNvSpPr>
            <a:spLocks noGrp="1"/>
          </p:cNvSpPr>
          <p:nvPr/>
        </p:nvSpPr>
        <p:spPr>
          <a:xfrm>
            <a:off x="742950" y="3448050"/>
            <a:ext cx="2571750" cy="647700"/>
          </a:xfrm>
          <a:prstGeom prst="rect">
            <a:avLst/>
          </a:prstGeom>
          <a:solidFill>
            <a:srgbClr val="F6EACF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A72D147-3E0D-485E-86A6-8B5E734BF37F}"/>
              </a:ext>
            </a:extLst>
          </p:cNvPr>
          <p:cNvSpPr>
            <a:spLocks noGrp="1"/>
          </p:cNvSpPr>
          <p:nvPr/>
        </p:nvSpPr>
        <p:spPr>
          <a:xfrm>
            <a:off x="857250" y="3486150"/>
            <a:ext cx="2343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6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共享哪一侧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A703AEF-EC72-4625-B2C7-855E8EAD102E}"/>
              </a:ext>
            </a:extLst>
          </p:cNvPr>
          <p:cNvSpPr>
            <a:spLocks noGrp="1"/>
          </p:cNvSpPr>
          <p:nvPr/>
        </p:nvSpPr>
        <p:spPr>
          <a:xfrm>
            <a:off x="3695700" y="3457575"/>
            <a:ext cx="3619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1">
                <a:solidFill>
                  <a:srgbClr val="D99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9D36"/>
                </a:solidFill>
                <a:latin typeface="Microsoft YaHei"/>
                <a:ea typeface="Microsoft YaHei"/>
                <a:cs typeface="Microsoft YaHei"/>
              </a:rPr>
              <a:t>FedAS-LoRA（2026 预印本）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418A6C8-3A4A-49F9-A411-FDA93EB5A28B}"/>
              </a:ext>
            </a:extLst>
          </p:cNvPr>
          <p:cNvSpPr>
            <a:spLocks noGrp="1"/>
          </p:cNvSpPr>
          <p:nvPr/>
        </p:nvSpPr>
        <p:spPr>
          <a:xfrm>
            <a:off x="3695700" y="3771900"/>
            <a:ext cx="6858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研究按数据特征决定共享哪一侧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F174575-7494-49D5-95A1-E825C81463F9}"/>
              </a:ext>
            </a:extLst>
          </p:cNvPr>
          <p:cNvSpPr>
            <a:spLocks noGrp="1"/>
          </p:cNvSpPr>
          <p:nvPr/>
        </p:nvSpPr>
        <p:spPr>
          <a:xfrm>
            <a:off x="742950" y="4429125"/>
            <a:ext cx="10668000" cy="1257300"/>
          </a:xfrm>
          <a:prstGeom prst="rect">
            <a:avLst/>
          </a:prstGeom>
          <a:solidFill>
            <a:srgbClr val="122A39"/>
          </a:solidFill>
          <a:ln w="0"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1F36AB5-93F5-47ED-895B-37F5E57A5E4D}"/>
              </a:ext>
            </a:extLst>
          </p:cNvPr>
          <p:cNvSpPr>
            <a:spLocks noGrp="1"/>
          </p:cNvSpPr>
          <p:nvPr/>
        </p:nvSpPr>
        <p:spPr>
          <a:xfrm>
            <a:off x="990600" y="4591050"/>
            <a:ext cx="10191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9FD8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9FD8D2"/>
                </a:solidFill>
                <a:latin typeface="Microsoft YaHei"/>
                <a:ea typeface="Microsoft YaHei"/>
                <a:cs typeface="Microsoft YaHei"/>
              </a:rPr>
              <a:t>这次要检验的组合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07423CF-640B-4FB4-891E-04B3195B59FA}"/>
              </a:ext>
            </a:extLst>
          </p:cNvPr>
          <p:cNvSpPr>
            <a:spLocks noGrp="1"/>
          </p:cNvSpPr>
          <p:nvPr/>
        </p:nvSpPr>
        <p:spPr>
          <a:xfrm>
            <a:off x="990600" y="5000625"/>
            <a:ext cx="10191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固定 6 / 9 / 12 层；配对比较共享 A、保留 B 与同深度聚合 A+B。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18DAB74-A003-4EC8-8E6B-2A5C29BEA88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代表性论文：Guo et al., arXiv:2410.01463 · Liu et al., arXiv:2412.20004 · Zhang et al., arXiv:2506.12213 · Xu et al., arXiv:2608.09742</a:t>
            </a:r>
          </a:p>
        </p:txBody>
      </p:sp>
    </p:spTree>
    <p:extLst>
      <p:ext uri="{BB962C8B-B14F-4D97-AF65-F5344CB8AC3E}">
        <p14:creationId xmlns:p14="http://schemas.microsoft.com/office/powerpoint/2010/main" val="1731941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3C1F1772-FA8D-4955-BD98-B155200BFE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87F8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BCD75C4-5BDD-447D-BC68-1D84C4797C84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问题建模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CB6B77B-2320-4138-88C5-58F1D4D761AC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9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同样的层预算下，客户端的 B 要上传还是留在本地？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0F85F7-1C4E-4CBC-843D-59DC6D7C5C75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层数、数据和训练计划相同；只改变 B 是否参与服务器平均。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A69410E-4B7D-4EE1-A5E9-BB338484C7EC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9525"/>
          </a:xfrm>
          <a:prstGeom prst="rect">
            <a:avLst/>
          </a:prstGeom>
          <a:solidFill>
            <a:srgbClr val="CCD4D4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32575D-5C64-4272-A41F-E66A5B268C5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联邦 LoRA 个性化  ·  HetSA-LoRA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CB70AC-295F-4AFB-A648-C93B89FC98B9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050" b="1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0BF0FB-0083-4B33-A5E9-CB1257FA2F57}"/>
              </a:ext>
            </a:extLst>
          </p:cNvPr>
          <p:cNvSpPr>
            <a:spLocks noGrp="1"/>
          </p:cNvSpPr>
          <p:nvPr/>
        </p:nvSpPr>
        <p:spPr>
          <a:xfrm>
            <a:off x="704850" y="1676400"/>
            <a:ext cx="4714875" cy="2647950"/>
          </a:xfrm>
          <a:prstGeom prst="rect">
            <a:avLst/>
          </a:prstGeom>
          <a:solidFill>
            <a:srgbClr val="E3EDF2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E3EBD4-DA06-4838-A30F-1772173BD75F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371975" cy="2571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25B4426-8684-4C39-AB19-82E9F6648428}"/>
              </a:ext>
            </a:extLst>
          </p:cNvPr>
          <p:cNvSpPr>
            <a:spLocks noGrp="1"/>
          </p:cNvSpPr>
          <p:nvPr/>
        </p:nvSpPr>
        <p:spPr>
          <a:xfrm>
            <a:off x="971550" y="1885950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rPr>
              <a:t>resource_depth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B75BE9C-2957-4297-AE58-4FC8E19F03B3}"/>
              </a:ext>
            </a:extLst>
          </p:cNvPr>
          <p:cNvSpPr>
            <a:spLocks noGrp="1"/>
          </p:cNvSpPr>
          <p:nvPr/>
        </p:nvSpPr>
        <p:spPr>
          <a:xfrm>
            <a:off x="971550" y="2419350"/>
            <a:ext cx="4000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每端训练相同的 6 / 9 / 12 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76BA2A7-AA98-49C4-8898-1923E52678A6}"/>
              </a:ext>
            </a:extLst>
          </p:cNvPr>
          <p:cNvSpPr>
            <a:spLocks noGrp="1"/>
          </p:cNvSpPr>
          <p:nvPr/>
        </p:nvSpPr>
        <p:spPr>
          <a:xfrm>
            <a:off x="971550" y="3028950"/>
            <a:ext cx="1571625" cy="552450"/>
          </a:xfrm>
          <a:prstGeom prst="rect">
            <a:avLst/>
          </a:prstGeom>
          <a:solidFill>
            <a:srgbClr val="477F9B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9D614BD-68E1-419A-B2D4-19AD172EE86A}"/>
              </a:ext>
            </a:extLst>
          </p:cNvPr>
          <p:cNvSpPr>
            <a:spLocks noGrp="1"/>
          </p:cNvSpPr>
          <p:nvPr/>
        </p:nvSpPr>
        <p:spPr>
          <a:xfrm>
            <a:off x="1066800" y="3067050"/>
            <a:ext cx="13811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上传 A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692672C-B8FD-4F41-9D55-8CB348BDC887}"/>
              </a:ext>
            </a:extLst>
          </p:cNvPr>
          <p:cNvSpPr>
            <a:spLocks noGrp="1"/>
          </p:cNvSpPr>
          <p:nvPr/>
        </p:nvSpPr>
        <p:spPr>
          <a:xfrm>
            <a:off x="2667000" y="3028950"/>
            <a:ext cx="1571625" cy="552450"/>
          </a:xfrm>
          <a:prstGeom prst="rect">
            <a:avLst/>
          </a:prstGeom>
          <a:solidFill>
            <a:srgbClr val="477F9B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4B6CD1D-40F1-4183-B2E4-47E410D4DA83}"/>
              </a:ext>
            </a:extLst>
          </p:cNvPr>
          <p:cNvSpPr>
            <a:spLocks noGrp="1"/>
          </p:cNvSpPr>
          <p:nvPr/>
        </p:nvSpPr>
        <p:spPr>
          <a:xfrm>
            <a:off x="2762250" y="3067050"/>
            <a:ext cx="13811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上传 B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85110F5-E51B-4C0B-B7C6-D271A6B63EBF}"/>
              </a:ext>
            </a:extLst>
          </p:cNvPr>
          <p:cNvSpPr>
            <a:spLocks noGrp="1"/>
          </p:cNvSpPr>
          <p:nvPr/>
        </p:nvSpPr>
        <p:spPr>
          <a:xfrm>
            <a:off x="971550" y="3762375"/>
            <a:ext cx="4000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服务器平均 A 和 B，再发回客户端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D5E94D-841C-4AFE-B140-F20C7C45EDA5}"/>
              </a:ext>
            </a:extLst>
          </p:cNvPr>
          <p:cNvSpPr>
            <a:spLocks noGrp="1"/>
          </p:cNvSpPr>
          <p:nvPr/>
        </p:nvSpPr>
        <p:spPr>
          <a:xfrm>
            <a:off x="5572125" y="2590800"/>
            <a:ext cx="1047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2100" b="1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对比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5E21F09-17D3-4465-8A2D-0326DE811F6C}"/>
              </a:ext>
            </a:extLst>
          </p:cNvPr>
          <p:cNvSpPr>
            <a:spLocks noGrp="1"/>
          </p:cNvSpPr>
          <p:nvPr/>
        </p:nvSpPr>
        <p:spPr>
          <a:xfrm>
            <a:off x="6772275" y="1676400"/>
            <a:ext cx="4714875" cy="2647950"/>
          </a:xfrm>
          <a:prstGeom prst="rect">
            <a:avLst/>
          </a:prstGeom>
          <a:solidFill>
            <a:srgbClr val="DCEFEB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2C514BB-B335-4150-8832-635513ACC8A8}"/>
              </a:ext>
            </a:extLst>
          </p:cNvPr>
          <p:cNvSpPr>
            <a:spLocks noGrp="1"/>
          </p:cNvSpPr>
          <p:nvPr/>
        </p:nvSpPr>
        <p:spPr>
          <a:xfrm>
            <a:off x="6943725" y="1714500"/>
            <a:ext cx="4371975" cy="2571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CB3A1C8-1AF0-4F0D-A9F2-E874772A5D5E}"/>
              </a:ext>
            </a:extLst>
          </p:cNvPr>
          <p:cNvSpPr>
            <a:spLocks noGrp="1"/>
          </p:cNvSpPr>
          <p:nvPr/>
        </p:nvSpPr>
        <p:spPr>
          <a:xfrm>
            <a:off x="7038975" y="1885950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0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HetSA-LoRA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854105E-363D-4A8A-9E45-DF1193A961A1}"/>
              </a:ext>
            </a:extLst>
          </p:cNvPr>
          <p:cNvSpPr>
            <a:spLocks noGrp="1"/>
          </p:cNvSpPr>
          <p:nvPr/>
        </p:nvSpPr>
        <p:spPr>
          <a:xfrm>
            <a:off x="7038975" y="2419350"/>
            <a:ext cx="4000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每端训练相同的 6 / 9 / 12 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04B7FEB-C862-4F59-B652-673573437C7A}"/>
              </a:ext>
            </a:extLst>
          </p:cNvPr>
          <p:cNvSpPr>
            <a:spLocks noGrp="1"/>
          </p:cNvSpPr>
          <p:nvPr/>
        </p:nvSpPr>
        <p:spPr>
          <a:xfrm>
            <a:off x="7038975" y="3028950"/>
            <a:ext cx="1571625" cy="552450"/>
          </a:xfrm>
          <a:prstGeom prst="rect">
            <a:avLst/>
          </a:prstGeom>
          <a:solidFill>
            <a:srgbClr val="087F88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CF72199-69BF-4D2F-8C7C-D5C2FFA1E3AB}"/>
              </a:ext>
            </a:extLst>
          </p:cNvPr>
          <p:cNvSpPr>
            <a:spLocks noGrp="1"/>
          </p:cNvSpPr>
          <p:nvPr/>
        </p:nvSpPr>
        <p:spPr>
          <a:xfrm>
            <a:off x="7134225" y="3067050"/>
            <a:ext cx="13811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上传 A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0865327-4B64-4DB5-A940-82C8B47D51D5}"/>
              </a:ext>
            </a:extLst>
          </p:cNvPr>
          <p:cNvSpPr>
            <a:spLocks noGrp="1"/>
          </p:cNvSpPr>
          <p:nvPr/>
        </p:nvSpPr>
        <p:spPr>
          <a:xfrm>
            <a:off x="8734425" y="3028950"/>
            <a:ext cx="1571625" cy="552450"/>
          </a:xfrm>
          <a:prstGeom prst="rect">
            <a:avLst/>
          </a:prstGeom>
          <a:solidFill>
            <a:srgbClr val="D99D36"/>
          </a:solidFill>
          <a:ln w="0"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F1BEE02-9D73-41F8-8065-A4B0A3CCA7BE}"/>
              </a:ext>
            </a:extLst>
          </p:cNvPr>
          <p:cNvSpPr>
            <a:spLocks noGrp="1"/>
          </p:cNvSpPr>
          <p:nvPr/>
        </p:nvSpPr>
        <p:spPr>
          <a:xfrm>
            <a:off x="8829675" y="3067050"/>
            <a:ext cx="13811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B 留本地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3BFEEE-F9BE-4320-AA32-E15F6703CED6}"/>
              </a:ext>
            </a:extLst>
          </p:cNvPr>
          <p:cNvSpPr>
            <a:spLocks noGrp="1"/>
          </p:cNvSpPr>
          <p:nvPr/>
        </p:nvSpPr>
        <p:spPr>
          <a:xfrm>
            <a:off x="7038975" y="3762375"/>
            <a:ext cx="4000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服务器平均 A；每个客户端保留自己的 B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C7D4CF2-5988-4D63-BEFA-D91C48D9107D}"/>
              </a:ext>
            </a:extLst>
          </p:cNvPr>
          <p:cNvSpPr>
            <a:spLocks noGrp="1"/>
          </p:cNvSpPr>
          <p:nvPr/>
        </p:nvSpPr>
        <p:spPr>
          <a:xfrm>
            <a:off x="704850" y="4657725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9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主要指标：客户端留出集准确率（第 26–30 轮平均）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5D7DF5B-6AC8-44BD-A125-3C16A65AE94F}"/>
              </a:ext>
            </a:extLst>
          </p:cNvPr>
          <p:cNvSpPr>
            <a:spLocks noGrp="1"/>
          </p:cNvSpPr>
          <p:nvPr/>
        </p:nvSpPr>
        <p:spPr>
          <a:xfrm>
            <a:off x="704850" y="539115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数据划分、层数、训练预算、初始化和客户端参与顺序逐种子配对。</a:t>
            </a:r>
          </a:p>
        </p:txBody>
      </p:sp>
    </p:spTree>
    <p:extLst>
      <p:ext uri="{BB962C8B-B14F-4D97-AF65-F5344CB8AC3E}">
        <p14:creationId xmlns:p14="http://schemas.microsoft.com/office/powerpoint/2010/main" val="255404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3EC113D4-5197-4F27-8F03-252DED0E32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87F8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01D9165-D5EB-4119-8597-10B3C560665B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方法设计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C885DA0-D3CE-410D-8662-AC798C215633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9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HetSA-LoRA：共享 A，保留各端自己的 B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913D9A-F8C4-4789-B0EC-937FBC8E661A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客户端本地训练 A 和 B；服务器平均 A；设备按资源训练 6、9 或 12 层。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5B499D-53F6-4A29-A4CA-463F9D8BC9F1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9525"/>
          </a:xfrm>
          <a:prstGeom prst="rect">
            <a:avLst/>
          </a:prstGeom>
          <a:solidFill>
            <a:srgbClr val="CCD4D4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CABC1D-9838-46D2-A65B-8AB7AEE9B44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联邦 LoRA 个性化  ·  HetSA-LoRA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403883-B3C6-4A8F-B3D0-961A87E3A638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050" b="1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AA578B-3F0E-4A8B-89E9-D5462BDBFF8A}"/>
              </a:ext>
            </a:extLst>
          </p:cNvPr>
          <p:cNvSpPr>
            <a:spLocks noGrp="1"/>
          </p:cNvSpPr>
          <p:nvPr/>
        </p:nvSpPr>
        <p:spPr>
          <a:xfrm>
            <a:off x="723900" y="1590675"/>
            <a:ext cx="3276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客 户 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40F355-D9F5-4DE0-88DD-F67F5BC8F09F}"/>
              </a:ext>
            </a:extLst>
          </p:cNvPr>
          <p:cNvSpPr>
            <a:spLocks noGrp="1"/>
          </p:cNvSpPr>
          <p:nvPr/>
        </p:nvSpPr>
        <p:spPr>
          <a:xfrm>
            <a:off x="723900" y="2057400"/>
            <a:ext cx="3276600" cy="7810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31F2509-0F16-4AC2-AD23-837E8026A803}"/>
              </a:ext>
            </a:extLst>
          </p:cNvPr>
          <p:cNvSpPr>
            <a:spLocks noGrp="1"/>
          </p:cNvSpPr>
          <p:nvPr/>
        </p:nvSpPr>
        <p:spPr>
          <a:xfrm>
            <a:off x="895350" y="2114550"/>
            <a:ext cx="28194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客户端 1  ·  6 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EB5927A-9006-4BAB-B92B-A225941F85E0}"/>
              </a:ext>
            </a:extLst>
          </p:cNvPr>
          <p:cNvSpPr>
            <a:spLocks noGrp="1"/>
          </p:cNvSpPr>
          <p:nvPr/>
        </p:nvSpPr>
        <p:spPr>
          <a:xfrm>
            <a:off x="914400" y="2457450"/>
            <a:ext cx="1066800" cy="295275"/>
          </a:xfrm>
          <a:prstGeom prst="rect">
            <a:avLst/>
          </a:prstGeom>
          <a:solidFill>
            <a:srgbClr val="087F88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9FBF64B-2F43-4B88-8811-6E5BD2F692E5}"/>
              </a:ext>
            </a:extLst>
          </p:cNvPr>
          <p:cNvSpPr>
            <a:spLocks noGrp="1"/>
          </p:cNvSpPr>
          <p:nvPr/>
        </p:nvSpPr>
        <p:spPr>
          <a:xfrm>
            <a:off x="971550" y="2495550"/>
            <a:ext cx="95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本地更新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A82E3A-D430-4C2B-8A77-C8C408A4D380}"/>
              </a:ext>
            </a:extLst>
          </p:cNvPr>
          <p:cNvSpPr>
            <a:spLocks noGrp="1"/>
          </p:cNvSpPr>
          <p:nvPr/>
        </p:nvSpPr>
        <p:spPr>
          <a:xfrm>
            <a:off x="2133600" y="2457450"/>
            <a:ext cx="1066800" cy="295275"/>
          </a:xfrm>
          <a:prstGeom prst="rect">
            <a:avLst/>
          </a:prstGeom>
          <a:solidFill>
            <a:srgbClr val="D99D36"/>
          </a:solidFill>
          <a:ln w="0"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A1EA74-3535-40A6-B26D-11DAAFCCF20D}"/>
              </a:ext>
            </a:extLst>
          </p:cNvPr>
          <p:cNvSpPr>
            <a:spLocks noGrp="1"/>
          </p:cNvSpPr>
          <p:nvPr/>
        </p:nvSpPr>
        <p:spPr>
          <a:xfrm>
            <a:off x="2190750" y="2495550"/>
            <a:ext cx="95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B₁ 本地更新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21112F-AE48-4268-920B-CBFACBE0BCDD}"/>
              </a:ext>
            </a:extLst>
          </p:cNvPr>
          <p:cNvSpPr>
            <a:spLocks noGrp="1"/>
          </p:cNvSpPr>
          <p:nvPr/>
        </p:nvSpPr>
        <p:spPr>
          <a:xfrm>
            <a:off x="723900" y="3105150"/>
            <a:ext cx="3276600" cy="7810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1236CB9-F86F-4B98-9B13-64BD24EE65A1}"/>
              </a:ext>
            </a:extLst>
          </p:cNvPr>
          <p:cNvSpPr>
            <a:spLocks noGrp="1"/>
          </p:cNvSpPr>
          <p:nvPr/>
        </p:nvSpPr>
        <p:spPr>
          <a:xfrm>
            <a:off x="895350" y="3162300"/>
            <a:ext cx="28194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客户端 2  ·  9 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CC9E015-3EA6-45F7-91BA-0CFD68047E7F}"/>
              </a:ext>
            </a:extLst>
          </p:cNvPr>
          <p:cNvSpPr>
            <a:spLocks noGrp="1"/>
          </p:cNvSpPr>
          <p:nvPr/>
        </p:nvSpPr>
        <p:spPr>
          <a:xfrm>
            <a:off x="914400" y="3505200"/>
            <a:ext cx="1066800" cy="295275"/>
          </a:xfrm>
          <a:prstGeom prst="rect">
            <a:avLst/>
          </a:prstGeom>
          <a:solidFill>
            <a:srgbClr val="087F88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B8044F2-88E8-4A59-AF38-C79451D5E3E5}"/>
              </a:ext>
            </a:extLst>
          </p:cNvPr>
          <p:cNvSpPr>
            <a:spLocks noGrp="1"/>
          </p:cNvSpPr>
          <p:nvPr/>
        </p:nvSpPr>
        <p:spPr>
          <a:xfrm>
            <a:off x="971550" y="3543300"/>
            <a:ext cx="95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本地更新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9CE4114-6C0A-4493-B845-636B72DD510B}"/>
              </a:ext>
            </a:extLst>
          </p:cNvPr>
          <p:cNvSpPr>
            <a:spLocks noGrp="1"/>
          </p:cNvSpPr>
          <p:nvPr/>
        </p:nvSpPr>
        <p:spPr>
          <a:xfrm>
            <a:off x="2133600" y="3505200"/>
            <a:ext cx="1066800" cy="295275"/>
          </a:xfrm>
          <a:prstGeom prst="rect">
            <a:avLst/>
          </a:prstGeom>
          <a:solidFill>
            <a:srgbClr val="D99D36"/>
          </a:solidFill>
          <a:ln w="0"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4211DA2-A56B-42D5-9F69-4CA20D155390}"/>
              </a:ext>
            </a:extLst>
          </p:cNvPr>
          <p:cNvSpPr>
            <a:spLocks noGrp="1"/>
          </p:cNvSpPr>
          <p:nvPr/>
        </p:nvSpPr>
        <p:spPr>
          <a:xfrm>
            <a:off x="2190750" y="3543300"/>
            <a:ext cx="95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B₂ 本地更新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E6DFE49-FA50-462C-B5A0-3198A85A6E19}"/>
              </a:ext>
            </a:extLst>
          </p:cNvPr>
          <p:cNvSpPr>
            <a:spLocks noGrp="1"/>
          </p:cNvSpPr>
          <p:nvPr/>
        </p:nvSpPr>
        <p:spPr>
          <a:xfrm>
            <a:off x="723900" y="4152900"/>
            <a:ext cx="3276600" cy="7810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C6B34C1-ACF6-4BB2-9144-DC434C2910E1}"/>
              </a:ext>
            </a:extLst>
          </p:cNvPr>
          <p:cNvSpPr>
            <a:spLocks noGrp="1"/>
          </p:cNvSpPr>
          <p:nvPr/>
        </p:nvSpPr>
        <p:spPr>
          <a:xfrm>
            <a:off x="895350" y="4210050"/>
            <a:ext cx="28194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客户端 3  ·  12 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C9A8DDB-1785-4F62-AEE3-D4617F439E58}"/>
              </a:ext>
            </a:extLst>
          </p:cNvPr>
          <p:cNvSpPr>
            <a:spLocks noGrp="1"/>
          </p:cNvSpPr>
          <p:nvPr/>
        </p:nvSpPr>
        <p:spPr>
          <a:xfrm>
            <a:off x="914400" y="4552950"/>
            <a:ext cx="1066800" cy="295275"/>
          </a:xfrm>
          <a:prstGeom prst="rect">
            <a:avLst/>
          </a:prstGeom>
          <a:solidFill>
            <a:srgbClr val="087F88"/>
          </a:solidFill>
          <a:ln w="0"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732F1A8-A70B-49D4-A854-4F86A70D0553}"/>
              </a:ext>
            </a:extLst>
          </p:cNvPr>
          <p:cNvSpPr>
            <a:spLocks noGrp="1"/>
          </p:cNvSpPr>
          <p:nvPr/>
        </p:nvSpPr>
        <p:spPr>
          <a:xfrm>
            <a:off x="971550" y="4591050"/>
            <a:ext cx="95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本地更新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5B3605F-2D58-4076-AFBA-AF55D8468D52}"/>
              </a:ext>
            </a:extLst>
          </p:cNvPr>
          <p:cNvSpPr>
            <a:spLocks noGrp="1"/>
          </p:cNvSpPr>
          <p:nvPr/>
        </p:nvSpPr>
        <p:spPr>
          <a:xfrm>
            <a:off x="2133600" y="4552950"/>
            <a:ext cx="1066800" cy="295275"/>
          </a:xfrm>
          <a:prstGeom prst="rect">
            <a:avLst/>
          </a:prstGeom>
          <a:solidFill>
            <a:srgbClr val="D99D36"/>
          </a:solidFill>
          <a:ln w="0">
            <a:noFill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C21D8CE-D87B-4F80-9A24-DCECD1258B01}"/>
              </a:ext>
            </a:extLst>
          </p:cNvPr>
          <p:cNvSpPr>
            <a:spLocks noGrp="1"/>
          </p:cNvSpPr>
          <p:nvPr/>
        </p:nvSpPr>
        <p:spPr>
          <a:xfrm>
            <a:off x="2190750" y="4591050"/>
            <a:ext cx="95250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B₃ 本地更新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DCA5D6E-71D6-4DB0-841C-8344E1C2CD39}"/>
              </a:ext>
            </a:extLst>
          </p:cNvPr>
          <p:cNvSpPr>
            <a:spLocks noGrp="1"/>
          </p:cNvSpPr>
          <p:nvPr/>
        </p:nvSpPr>
        <p:spPr>
          <a:xfrm>
            <a:off x="4191000" y="2305050"/>
            <a:ext cx="152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只上传 A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6492408-B4DD-4299-99A4-46FD08C7DCF2}"/>
              </a:ext>
            </a:extLst>
          </p:cNvPr>
          <p:cNvSpPr>
            <a:spLocks noGrp="1"/>
          </p:cNvSpPr>
          <p:nvPr/>
        </p:nvSpPr>
        <p:spPr>
          <a:xfrm>
            <a:off x="4191000" y="3352800"/>
            <a:ext cx="152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只上传 A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AC2C6CF-E5AC-46F8-83D5-098FF2C9B0EB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152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只上传 A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BFC27C7-02CF-464E-A2AC-B3951993F6FD}"/>
              </a:ext>
            </a:extLst>
          </p:cNvPr>
          <p:cNvSpPr>
            <a:spLocks noGrp="1"/>
          </p:cNvSpPr>
          <p:nvPr/>
        </p:nvSpPr>
        <p:spPr>
          <a:xfrm>
            <a:off x="5753100" y="2133600"/>
            <a:ext cx="2686050" cy="2819400"/>
          </a:xfrm>
          <a:prstGeom prst="rect">
            <a:avLst/>
          </a:prstGeom>
          <a:solidFill>
            <a:srgbClr val="122A39"/>
          </a:solidFill>
          <a:ln w="0">
            <a:noFill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C003FF6-0257-4A80-A672-8DEE150902A5}"/>
              </a:ext>
            </a:extLst>
          </p:cNvPr>
          <p:cNvSpPr>
            <a:spLocks noGrp="1"/>
          </p:cNvSpPr>
          <p:nvPr/>
        </p:nvSpPr>
        <p:spPr>
          <a:xfrm>
            <a:off x="6000750" y="2362200"/>
            <a:ext cx="2190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服务器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828C595-C9BC-4299-9647-A0D757B9067A}"/>
              </a:ext>
            </a:extLst>
          </p:cNvPr>
          <p:cNvSpPr>
            <a:spLocks noGrp="1"/>
          </p:cNvSpPr>
          <p:nvPr/>
        </p:nvSpPr>
        <p:spPr>
          <a:xfrm>
            <a:off x="6057900" y="2990850"/>
            <a:ext cx="2076450" cy="742950"/>
          </a:xfrm>
          <a:prstGeom prst="rect">
            <a:avLst/>
          </a:prstGeom>
          <a:solidFill>
            <a:srgbClr val="087F88"/>
          </a:solidFill>
          <a:ln w="0">
            <a:noFill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A3DA637-8B22-4AB7-86CD-65EBF713996E}"/>
              </a:ext>
            </a:extLst>
          </p:cNvPr>
          <p:cNvSpPr>
            <a:spLocks noGrp="1"/>
          </p:cNvSpPr>
          <p:nvPr/>
        </p:nvSpPr>
        <p:spPr>
          <a:xfrm>
            <a:off x="6153150" y="30289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平均 A₁, A₂, …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F3FD4BA-E961-49DC-986C-51CB6235B14A}"/>
              </a:ext>
            </a:extLst>
          </p:cNvPr>
          <p:cNvSpPr>
            <a:spLocks noGrp="1"/>
          </p:cNvSpPr>
          <p:nvPr/>
        </p:nvSpPr>
        <p:spPr>
          <a:xfrm>
            <a:off x="6057900" y="3962400"/>
            <a:ext cx="2076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BCE5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CE5DF"/>
                </a:solidFill>
                <a:latin typeface="Microsoft YaHei"/>
                <a:ea typeface="Microsoft YaHei"/>
                <a:cs typeface="Microsoft YaHei"/>
              </a:rPr>
              <a:t>得到共享 A*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B8A14B4-1735-44C2-B511-873155D5CD6D}"/>
              </a:ext>
            </a:extLst>
          </p:cNvPr>
          <p:cNvSpPr>
            <a:spLocks noGrp="1"/>
          </p:cNvSpPr>
          <p:nvPr/>
        </p:nvSpPr>
        <p:spPr>
          <a:xfrm>
            <a:off x="8572500" y="3257550"/>
            <a:ext cx="123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下发 A*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6B94D36-7CBE-4CC8-A1E1-CCFB1DF3CCF1}"/>
              </a:ext>
            </a:extLst>
          </p:cNvPr>
          <p:cNvSpPr>
            <a:spLocks noGrp="1"/>
          </p:cNvSpPr>
          <p:nvPr/>
        </p:nvSpPr>
        <p:spPr>
          <a:xfrm>
            <a:off x="9782175" y="1943100"/>
            <a:ext cx="1733550" cy="31051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8582B9E-C127-4603-B89B-6175FD86CF2C}"/>
              </a:ext>
            </a:extLst>
          </p:cNvPr>
          <p:cNvSpPr>
            <a:spLocks noGrp="1"/>
          </p:cNvSpPr>
          <p:nvPr/>
        </p:nvSpPr>
        <p:spPr>
          <a:xfrm>
            <a:off x="9944100" y="2133600"/>
            <a:ext cx="14097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下一轮</a:t>
            </a:r>
          </a:p>
          <a:p>
            <a:pPr algn="ctr">
              <a:buNone/>
              <a:defRPr sz="15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本地模型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67567C8-14C8-411B-98C4-DB979D3224A3}"/>
              </a:ext>
            </a:extLst>
          </p:cNvPr>
          <p:cNvSpPr>
            <a:spLocks noGrp="1"/>
          </p:cNvSpPr>
          <p:nvPr/>
        </p:nvSpPr>
        <p:spPr>
          <a:xfrm>
            <a:off x="9963150" y="2895600"/>
            <a:ext cx="1371600" cy="533400"/>
          </a:xfrm>
          <a:prstGeom prst="rect">
            <a:avLst/>
          </a:prstGeom>
          <a:solidFill>
            <a:srgbClr val="087F88"/>
          </a:solidFill>
          <a:ln w="0">
            <a:noFill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4507A10-1062-40AF-BA2B-200292CB6AF2}"/>
              </a:ext>
            </a:extLst>
          </p:cNvPr>
          <p:cNvSpPr>
            <a:spLocks noGrp="1"/>
          </p:cNvSpPr>
          <p:nvPr/>
        </p:nvSpPr>
        <p:spPr>
          <a:xfrm>
            <a:off x="10039350" y="2933700"/>
            <a:ext cx="1219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共享 A*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65B938B-0DD2-4FF6-BCEC-CBA4B1F20142}"/>
              </a:ext>
            </a:extLst>
          </p:cNvPr>
          <p:cNvSpPr>
            <a:spLocks noGrp="1"/>
          </p:cNvSpPr>
          <p:nvPr/>
        </p:nvSpPr>
        <p:spPr>
          <a:xfrm>
            <a:off x="9963150" y="3600450"/>
            <a:ext cx="1371600" cy="533400"/>
          </a:xfrm>
          <a:prstGeom prst="rect">
            <a:avLst/>
          </a:prstGeom>
          <a:solidFill>
            <a:srgbClr val="D99D36"/>
          </a:solidFill>
          <a:ln w="0">
            <a:noFill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D4B5A99-3947-4553-9A6C-62CC1A1AC830}"/>
              </a:ext>
            </a:extLst>
          </p:cNvPr>
          <p:cNvSpPr>
            <a:spLocks noGrp="1"/>
          </p:cNvSpPr>
          <p:nvPr/>
        </p:nvSpPr>
        <p:spPr>
          <a:xfrm>
            <a:off x="10039350" y="3638550"/>
            <a:ext cx="1219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自己的 Bᵢ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42550CC-1693-4720-8CB0-6B7033D33639}"/>
              </a:ext>
            </a:extLst>
          </p:cNvPr>
          <p:cNvSpPr>
            <a:spLocks noGrp="1"/>
          </p:cNvSpPr>
          <p:nvPr/>
        </p:nvSpPr>
        <p:spPr>
          <a:xfrm>
            <a:off x="9953625" y="4324350"/>
            <a:ext cx="14097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>
                <a:solidFill>
                  <a:srgbClr val="B857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8574E"/>
                </a:solidFill>
                <a:latin typeface="Microsoft YaHei"/>
                <a:ea typeface="Microsoft YaHei"/>
                <a:cs typeface="Microsoft YaHei"/>
              </a:rPr>
              <a:t>Bᵢ 不上传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122AA9F-9BFE-40AB-9666-F1321855A0E3}"/>
              </a:ext>
            </a:extLst>
          </p:cNvPr>
          <p:cNvSpPr>
            <a:spLocks noGrp="1"/>
          </p:cNvSpPr>
          <p:nvPr/>
        </p:nvSpPr>
        <p:spPr>
          <a:xfrm>
            <a:off x="723900" y="5505450"/>
            <a:ext cx="10763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7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下一轮：A* + 客户端自己的 Bᵢ → 个性化预测</a:t>
            </a:r>
          </a:p>
        </p:txBody>
      </p:sp>
    </p:spTree>
    <p:extLst>
      <p:ext uri="{BB962C8B-B14F-4D97-AF65-F5344CB8AC3E}">
        <p14:creationId xmlns:p14="http://schemas.microsoft.com/office/powerpoint/2010/main" val="104726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AD78D731-B469-41E6-9344-A3859EC453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87F8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BD0526C-FD62-42B4-99E1-5224CACF33CA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35B781-B6BF-4C51-A80E-2AE90A45971E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9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相同层预算下，保留客户端 B 后精度平均高 11.88 个百分点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64D8E3-4A81-42A6-9745-EB5776A7BDA7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HetSA-LoRA − resource_depth；客户端留出准确率，第 26–30 轮均值。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D3FC25-6DCF-499C-8407-6B035CF17FAE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9525"/>
          </a:xfrm>
          <a:prstGeom prst="rect">
            <a:avLst/>
          </a:prstGeom>
          <a:solidFill>
            <a:srgbClr val="CCD4D4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4B4F603-BA05-47BC-94DC-5EFAABF0A587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联邦 LoRA 个性化  ·  HetSA-LoRA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0EC639F-2335-4430-B5F0-9781FB7AD6BD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050" b="1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3140BD-376A-456A-8ED2-1E5BA5A1BF5F}"/>
              </a:ext>
            </a:extLst>
          </p:cNvPr>
          <p:cNvSpPr>
            <a:spLocks noGrp="1"/>
          </p:cNvSpPr>
          <p:nvPr/>
        </p:nvSpPr>
        <p:spPr>
          <a:xfrm>
            <a:off x="742950" y="1628775"/>
            <a:ext cx="4476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60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+11.88 pp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FD0021-325F-4AE8-B2EF-0639096A1357}"/>
              </a:ext>
            </a:extLst>
          </p:cNvPr>
          <p:cNvSpPr>
            <a:spLocks noGrp="1"/>
          </p:cNvSpPr>
          <p:nvPr/>
        </p:nvSpPr>
        <p:spPr>
          <a:xfrm>
            <a:off x="742950" y="2257425"/>
            <a:ext cx="4476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五个配对种子的平均差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E5FD20-8C87-45CD-B6C6-E6C284F66B65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447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HetSA 94.11%  vs  resource_depth 82.23%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5BAD0A-126E-4C2E-A95D-D90AE5C7926B}"/>
              </a:ext>
            </a:extLst>
          </p:cNvPr>
          <p:cNvSpPr>
            <a:spLocks noGrp="1"/>
          </p:cNvSpPr>
          <p:nvPr/>
        </p:nvSpPr>
        <p:spPr>
          <a:xfrm>
            <a:off x="6029325" y="1724025"/>
            <a:ext cx="5334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每个种子的提升（百分点）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EE4233A-BF62-453D-A88A-250D8196B98D}"/>
              </a:ext>
            </a:extLst>
          </p:cNvPr>
          <p:cNvSpPr>
            <a:spLocks noGrp="1"/>
          </p:cNvSpPr>
          <p:nvPr/>
        </p:nvSpPr>
        <p:spPr>
          <a:xfrm>
            <a:off x="2381250" y="2952750"/>
            <a:ext cx="1524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31B703A-50DE-4A19-9F60-050623BEE2E9}"/>
              </a:ext>
            </a:extLst>
          </p:cNvPr>
          <p:cNvSpPr>
            <a:spLocks noGrp="1"/>
          </p:cNvSpPr>
          <p:nvPr/>
        </p:nvSpPr>
        <p:spPr>
          <a:xfrm>
            <a:off x="9086850" y="2952750"/>
            <a:ext cx="609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1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20 pp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379DF37-23D4-4113-954D-6DD40849B1C5}"/>
              </a:ext>
            </a:extLst>
          </p:cNvPr>
          <p:cNvSpPr>
            <a:spLocks noGrp="1"/>
          </p:cNvSpPr>
          <p:nvPr/>
        </p:nvSpPr>
        <p:spPr>
          <a:xfrm>
            <a:off x="2743200" y="3200400"/>
            <a:ext cx="19050" cy="2000250"/>
          </a:xfrm>
          <a:prstGeom prst="rect">
            <a:avLst/>
          </a:prstGeom>
          <a:solidFill>
            <a:srgbClr val="D99D36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1356694-0B6B-48A7-BEA5-794EB4D02A7F}"/>
              </a:ext>
            </a:extLst>
          </p:cNvPr>
          <p:cNvSpPr>
            <a:spLocks noGrp="1"/>
          </p:cNvSpPr>
          <p:nvPr/>
        </p:nvSpPr>
        <p:spPr>
          <a:xfrm>
            <a:off x="2800350" y="2952750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D99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99D36"/>
                </a:solidFill>
                <a:latin typeface="Microsoft YaHei"/>
                <a:ea typeface="Microsoft YaHei"/>
                <a:cs typeface="Microsoft YaHei"/>
              </a:rPr>
              <a:t>+1 pp 门槛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168F46-0A29-49FA-8AB4-2D5F24A33614}"/>
              </a:ext>
            </a:extLst>
          </p:cNvPr>
          <p:cNvSpPr>
            <a:spLocks noGrp="1"/>
          </p:cNvSpPr>
          <p:nvPr/>
        </p:nvSpPr>
        <p:spPr>
          <a:xfrm>
            <a:off x="1485900" y="330517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9342"/>
          </a:bodyPr>
          <a:lstStyle/>
          <a:p>
            <a:pPr algn="r">
              <a:buNone/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seed 202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8713CCF-F13E-41FC-A8BB-A5502E97D4F7}"/>
              </a:ext>
            </a:extLst>
          </p:cNvPr>
          <p:cNvSpPr>
            <a:spLocks noGrp="1"/>
          </p:cNvSpPr>
          <p:nvPr/>
        </p:nvSpPr>
        <p:spPr>
          <a:xfrm>
            <a:off x="2381250" y="3333750"/>
            <a:ext cx="7239000" cy="228600"/>
          </a:xfrm>
          <a:prstGeom prst="rect">
            <a:avLst/>
          </a:prstGeom>
          <a:solidFill>
            <a:srgbClr val="E4E8E6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BD5BBD0-935F-40C9-A950-C4DB580A7EDB}"/>
              </a:ext>
            </a:extLst>
          </p:cNvPr>
          <p:cNvSpPr>
            <a:spLocks noGrp="1"/>
          </p:cNvSpPr>
          <p:nvPr/>
        </p:nvSpPr>
        <p:spPr>
          <a:xfrm>
            <a:off x="2381250" y="3333750"/>
            <a:ext cx="4889945" cy="228600"/>
          </a:xfrm>
          <a:prstGeom prst="rect">
            <a:avLst/>
          </a:prstGeom>
          <a:solidFill>
            <a:srgbClr val="087F88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F586FAA-13D9-4D8E-9B18-B36B284EF4F4}"/>
              </a:ext>
            </a:extLst>
          </p:cNvPr>
          <p:cNvSpPr>
            <a:spLocks noGrp="1"/>
          </p:cNvSpPr>
          <p:nvPr/>
        </p:nvSpPr>
        <p:spPr>
          <a:xfrm>
            <a:off x="7385495" y="3286125"/>
            <a:ext cx="1028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+13.51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B1A2613-2276-47EA-8E81-A16434294B6A}"/>
              </a:ext>
            </a:extLst>
          </p:cNvPr>
          <p:cNvSpPr>
            <a:spLocks noGrp="1"/>
          </p:cNvSpPr>
          <p:nvPr/>
        </p:nvSpPr>
        <p:spPr>
          <a:xfrm>
            <a:off x="1485900" y="37052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9342"/>
          </a:bodyPr>
          <a:lstStyle/>
          <a:p>
            <a:pPr algn="r">
              <a:buNone/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seed 303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BBDC648-0FFF-4DF6-8227-E248E3FF159C}"/>
              </a:ext>
            </a:extLst>
          </p:cNvPr>
          <p:cNvSpPr>
            <a:spLocks noGrp="1"/>
          </p:cNvSpPr>
          <p:nvPr/>
        </p:nvSpPr>
        <p:spPr>
          <a:xfrm>
            <a:off x="2381250" y="3733800"/>
            <a:ext cx="7239000" cy="228600"/>
          </a:xfrm>
          <a:prstGeom prst="rect">
            <a:avLst/>
          </a:prstGeom>
          <a:solidFill>
            <a:srgbClr val="E4E8E6"/>
          </a:solidFill>
          <a:ln w="0">
            <a:noFill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27BCD10-C2FD-4B09-9C5F-6902EC7DF20F}"/>
              </a:ext>
            </a:extLst>
          </p:cNvPr>
          <p:cNvSpPr>
            <a:spLocks noGrp="1"/>
          </p:cNvSpPr>
          <p:nvPr/>
        </p:nvSpPr>
        <p:spPr>
          <a:xfrm>
            <a:off x="2381250" y="3733800"/>
            <a:ext cx="5722430" cy="228600"/>
          </a:xfrm>
          <a:prstGeom prst="rect">
            <a:avLst/>
          </a:prstGeom>
          <a:solidFill>
            <a:srgbClr val="087F88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F747B13-F69A-49B9-933C-3D159BD817CA}"/>
              </a:ext>
            </a:extLst>
          </p:cNvPr>
          <p:cNvSpPr>
            <a:spLocks noGrp="1"/>
          </p:cNvSpPr>
          <p:nvPr/>
        </p:nvSpPr>
        <p:spPr>
          <a:xfrm>
            <a:off x="8217980" y="3686175"/>
            <a:ext cx="1028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+15.81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6AFB5DE-6723-44AB-B8AF-1349F0C9F14E}"/>
              </a:ext>
            </a:extLst>
          </p:cNvPr>
          <p:cNvSpPr>
            <a:spLocks noGrp="1"/>
          </p:cNvSpPr>
          <p:nvPr/>
        </p:nvSpPr>
        <p:spPr>
          <a:xfrm>
            <a:off x="1485900" y="410527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9342"/>
          </a:bodyPr>
          <a:lstStyle/>
          <a:p>
            <a:pPr algn="r">
              <a:buNone/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seed 404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8F4A1FD-FB6E-4468-B068-AC09BE96F75D}"/>
              </a:ext>
            </a:extLst>
          </p:cNvPr>
          <p:cNvSpPr>
            <a:spLocks noGrp="1"/>
          </p:cNvSpPr>
          <p:nvPr/>
        </p:nvSpPr>
        <p:spPr>
          <a:xfrm>
            <a:off x="2381250" y="4133850"/>
            <a:ext cx="7239000" cy="228600"/>
          </a:xfrm>
          <a:prstGeom prst="rect">
            <a:avLst/>
          </a:prstGeom>
          <a:solidFill>
            <a:srgbClr val="E4E8E6"/>
          </a:solidFill>
          <a:ln w="0">
            <a:noFill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4D992FE-211B-4EC7-B522-DA187734DA59}"/>
              </a:ext>
            </a:extLst>
          </p:cNvPr>
          <p:cNvSpPr>
            <a:spLocks noGrp="1"/>
          </p:cNvSpPr>
          <p:nvPr/>
        </p:nvSpPr>
        <p:spPr>
          <a:xfrm>
            <a:off x="2381250" y="4133850"/>
            <a:ext cx="6500622" cy="228600"/>
          </a:xfrm>
          <a:prstGeom prst="rect">
            <a:avLst/>
          </a:prstGeom>
          <a:solidFill>
            <a:srgbClr val="087F88"/>
          </a:solidFill>
          <a:ln w="0">
            <a:noFill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2B9FE95-7965-451C-9FD2-EFB40F0ABF2C}"/>
              </a:ext>
            </a:extLst>
          </p:cNvPr>
          <p:cNvSpPr>
            <a:spLocks noGrp="1"/>
          </p:cNvSpPr>
          <p:nvPr/>
        </p:nvSpPr>
        <p:spPr>
          <a:xfrm>
            <a:off x="8996172" y="4086225"/>
            <a:ext cx="1028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+17.96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9FB8261-E70E-4260-9DC9-F3D156D2DF5F}"/>
              </a:ext>
            </a:extLst>
          </p:cNvPr>
          <p:cNvSpPr>
            <a:spLocks noGrp="1"/>
          </p:cNvSpPr>
          <p:nvPr/>
        </p:nvSpPr>
        <p:spPr>
          <a:xfrm>
            <a:off x="1485900" y="450532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9342"/>
          </a:bodyPr>
          <a:lstStyle/>
          <a:p>
            <a:pPr algn="r">
              <a:buNone/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seed 505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9046409-BEDE-4107-B4D6-83C496AF3EC5}"/>
              </a:ext>
            </a:extLst>
          </p:cNvPr>
          <p:cNvSpPr>
            <a:spLocks noGrp="1"/>
          </p:cNvSpPr>
          <p:nvPr/>
        </p:nvSpPr>
        <p:spPr>
          <a:xfrm>
            <a:off x="2381250" y="4533900"/>
            <a:ext cx="7239000" cy="228600"/>
          </a:xfrm>
          <a:prstGeom prst="rect">
            <a:avLst/>
          </a:prstGeom>
          <a:solidFill>
            <a:srgbClr val="E4E8E6"/>
          </a:solidFill>
          <a:ln w="0">
            <a:noFill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2BBA9EB-F457-4F8F-A92A-6A2B1F17B73A}"/>
              </a:ext>
            </a:extLst>
          </p:cNvPr>
          <p:cNvSpPr>
            <a:spLocks noGrp="1"/>
          </p:cNvSpPr>
          <p:nvPr/>
        </p:nvSpPr>
        <p:spPr>
          <a:xfrm>
            <a:off x="2381250" y="4533900"/>
            <a:ext cx="1835087" cy="228600"/>
          </a:xfrm>
          <a:prstGeom prst="rect">
            <a:avLst/>
          </a:prstGeom>
          <a:solidFill>
            <a:srgbClr val="087F88"/>
          </a:solidFill>
          <a:ln w="0">
            <a:noFill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5990CC2-C2F0-4307-8865-A258CCBD1141}"/>
              </a:ext>
            </a:extLst>
          </p:cNvPr>
          <p:cNvSpPr>
            <a:spLocks noGrp="1"/>
          </p:cNvSpPr>
          <p:nvPr/>
        </p:nvSpPr>
        <p:spPr>
          <a:xfrm>
            <a:off x="4330637" y="4486275"/>
            <a:ext cx="1028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+5.07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853D6B3-A869-4D7A-B4E0-7F762E7A3811}"/>
              </a:ext>
            </a:extLst>
          </p:cNvPr>
          <p:cNvSpPr>
            <a:spLocks noGrp="1"/>
          </p:cNvSpPr>
          <p:nvPr/>
        </p:nvSpPr>
        <p:spPr>
          <a:xfrm>
            <a:off x="1485900" y="4905375"/>
            <a:ext cx="685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9342"/>
          </a:bodyPr>
          <a:lstStyle/>
          <a:p>
            <a:pPr algn="r">
              <a:buNone/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seed 606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696CFB8-0000-466B-8DCA-7AC3C6D82746}"/>
              </a:ext>
            </a:extLst>
          </p:cNvPr>
          <p:cNvSpPr>
            <a:spLocks noGrp="1"/>
          </p:cNvSpPr>
          <p:nvPr/>
        </p:nvSpPr>
        <p:spPr>
          <a:xfrm>
            <a:off x="2381250" y="4933950"/>
            <a:ext cx="7239000" cy="228600"/>
          </a:xfrm>
          <a:prstGeom prst="rect">
            <a:avLst/>
          </a:prstGeom>
          <a:solidFill>
            <a:srgbClr val="E4E8E6"/>
          </a:solidFill>
          <a:ln w="0">
            <a:noFill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16AEEFD-8193-4719-9216-0307858D728A}"/>
              </a:ext>
            </a:extLst>
          </p:cNvPr>
          <p:cNvSpPr>
            <a:spLocks noGrp="1"/>
          </p:cNvSpPr>
          <p:nvPr/>
        </p:nvSpPr>
        <p:spPr>
          <a:xfrm>
            <a:off x="2381250" y="4933950"/>
            <a:ext cx="2544509" cy="228600"/>
          </a:xfrm>
          <a:prstGeom prst="rect">
            <a:avLst/>
          </a:prstGeom>
          <a:solidFill>
            <a:srgbClr val="087F88"/>
          </a:solidFill>
          <a:ln w="0">
            <a:noFill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B369E26-A8C5-4102-ACB9-34BE795D665A}"/>
              </a:ext>
            </a:extLst>
          </p:cNvPr>
          <p:cNvSpPr>
            <a:spLocks noGrp="1"/>
          </p:cNvSpPr>
          <p:nvPr/>
        </p:nvSpPr>
        <p:spPr>
          <a:xfrm>
            <a:off x="5040059" y="4886325"/>
            <a:ext cx="1028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+7.03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9F943CF-5C7D-441D-9660-91C23FDE7EBE}"/>
              </a:ext>
            </a:extLst>
          </p:cNvPr>
          <p:cNvSpPr>
            <a:spLocks noGrp="1"/>
          </p:cNvSpPr>
          <p:nvPr/>
        </p:nvSpPr>
        <p:spPr>
          <a:xfrm>
            <a:off x="742950" y="5467350"/>
            <a:ext cx="10572750" cy="571500"/>
          </a:xfrm>
          <a:prstGeom prst="rect">
            <a:avLst/>
          </a:prstGeom>
          <a:solidFill>
            <a:srgbClr val="DCEFEB"/>
          </a:solidFill>
          <a:ln w="0">
            <a:noFill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6474C31-1F62-448C-95C0-6FBF08B6704C}"/>
              </a:ext>
            </a:extLst>
          </p:cNvPr>
          <p:cNvSpPr>
            <a:spLocks noGrp="1"/>
          </p:cNvSpPr>
          <p:nvPr/>
        </p:nvSpPr>
        <p:spPr>
          <a:xfrm>
            <a:off x="933450" y="5534025"/>
            <a:ext cx="10191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4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5 / 5 个种子超过运行前设定的 +1 pp 门槛  ·  描述性 95% 区间：[4.93, 18.82] pp</a:t>
            </a:r>
          </a:p>
        </p:txBody>
      </p:sp>
    </p:spTree>
    <p:extLst>
      <p:ext uri="{BB962C8B-B14F-4D97-AF65-F5344CB8AC3E}">
        <p14:creationId xmlns:p14="http://schemas.microsoft.com/office/powerpoint/2010/main" val="673077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3B8DBB5B-0FE3-40DC-9485-71A5AE315C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87F8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1D359A2-810C-4AF9-B0AE-9C402AE3B7ED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消融与成本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A097EE-D070-460F-9FD4-6F0EA93AB9F0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9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全深度 FedSA 的精度接近；资源深度版本开销更低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A65BF8-0DB5-429D-865B-D2410F1EC38C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两种方法都共享 A、保留 B；主要差别是 HetSA 只训练资源允许的最深 6 / 9 / 12 层。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5B72AB-68A1-4AB8-ACF6-EEACCDB32BAE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9525"/>
          </a:xfrm>
          <a:prstGeom prst="rect">
            <a:avLst/>
          </a:prstGeom>
          <a:solidFill>
            <a:srgbClr val="CCD4D4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7B3B1B3-1968-4458-A1DD-78553811C80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联邦 LoRA 个性化  ·  HetSA-LoRA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A1B5BEA-7844-4665-BC24-A251421895E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050" b="1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7B66CE-1739-4409-A33F-5248EFB28489}"/>
              </a:ext>
            </a:extLst>
          </p:cNvPr>
          <p:cNvSpPr>
            <a:spLocks noGrp="1"/>
          </p:cNvSpPr>
          <p:nvPr/>
        </p:nvSpPr>
        <p:spPr>
          <a:xfrm>
            <a:off x="685800" y="1628775"/>
            <a:ext cx="10820400" cy="1200150"/>
          </a:xfrm>
          <a:prstGeom prst="rect">
            <a:avLst/>
          </a:prstGeom>
          <a:solidFill>
            <a:srgbClr val="122A39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5F2DEC-244F-47F3-BEFA-C9A718CC4777}"/>
              </a:ext>
            </a:extLst>
          </p:cNvPr>
          <p:cNvSpPr>
            <a:spLocks noGrp="1"/>
          </p:cNvSpPr>
          <p:nvPr/>
        </p:nvSpPr>
        <p:spPr>
          <a:xfrm>
            <a:off x="914400" y="175260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C9D8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9D8DC"/>
                </a:solidFill>
                <a:latin typeface="Microsoft YaHei"/>
                <a:ea typeface="Microsoft YaHei"/>
                <a:cs typeface="Microsoft YaHei"/>
              </a:rPr>
              <a:t>客户端留出准确率 · 末五轮均值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9ED7F30-BC9C-4F1E-BBCE-B537B20ADFFA}"/>
              </a:ext>
            </a:extLst>
          </p:cNvPr>
          <p:cNvSpPr>
            <a:spLocks noGrp="1"/>
          </p:cNvSpPr>
          <p:nvPr/>
        </p:nvSpPr>
        <p:spPr>
          <a:xfrm>
            <a:off x="914400" y="2095500"/>
            <a:ext cx="333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HetSA  94.11%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B54FCE1-51BD-445D-8B0E-FBB571D7ADBD}"/>
              </a:ext>
            </a:extLst>
          </p:cNvPr>
          <p:cNvSpPr>
            <a:spLocks noGrp="1"/>
          </p:cNvSpPr>
          <p:nvPr/>
        </p:nvSpPr>
        <p:spPr>
          <a:xfrm>
            <a:off x="4486275" y="2095500"/>
            <a:ext cx="3333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FedSA  94.28%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4634CAF-17A8-47DC-B910-AAFA7899B713}"/>
              </a:ext>
            </a:extLst>
          </p:cNvPr>
          <p:cNvSpPr>
            <a:spLocks noGrp="1"/>
          </p:cNvSpPr>
          <p:nvPr/>
        </p:nvSpPr>
        <p:spPr>
          <a:xfrm>
            <a:off x="8239125" y="1962150"/>
            <a:ext cx="285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875" b="1">
                <a:solidFill>
                  <a:srgbClr val="9FD8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FD8D2"/>
                </a:solidFill>
                <a:latin typeface="Microsoft YaHei"/>
                <a:ea typeface="Microsoft YaHei"/>
                <a:cs typeface="Microsoft YaHei"/>
              </a:rPr>
              <a:t>差值 −0.17 pp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568D557-1116-4EB4-9C1B-72851D1DDFAB}"/>
              </a:ext>
            </a:extLst>
          </p:cNvPr>
          <p:cNvSpPr>
            <a:spLocks noGrp="1"/>
          </p:cNvSpPr>
          <p:nvPr/>
        </p:nvSpPr>
        <p:spPr>
          <a:xfrm>
            <a:off x="8248650" y="2457450"/>
            <a:ext cx="2838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C9D8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9D8DC"/>
                </a:solidFill>
                <a:latin typeface="Microsoft YaHei"/>
                <a:ea typeface="Microsoft YaHei"/>
                <a:cs typeface="Microsoft YaHei"/>
              </a:rPr>
              <a:t>95% 描述性区间 [−0.76, +0.42]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AB26979-4592-47E4-92E4-E1896F253E96}"/>
              </a:ext>
            </a:extLst>
          </p:cNvPr>
          <p:cNvSpPr>
            <a:spLocks noGrp="1"/>
          </p:cNvSpPr>
          <p:nvPr/>
        </p:nvSpPr>
        <p:spPr>
          <a:xfrm>
            <a:off x="742950" y="3152775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五种子平均累计开销（30 轮）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25ACE5-3943-4673-B998-14CA042AE2A3}"/>
              </a:ext>
            </a:extLst>
          </p:cNvPr>
          <p:cNvSpPr>
            <a:spLocks noGrp="1"/>
          </p:cNvSpPr>
          <p:nvPr/>
        </p:nvSpPr>
        <p:spPr>
          <a:xfrm>
            <a:off x="742950" y="3743325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训练时间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C77656-7AFA-4050-BED9-D4963F544258}"/>
              </a:ext>
            </a:extLst>
          </p:cNvPr>
          <p:cNvSpPr>
            <a:spLocks noGrp="1"/>
          </p:cNvSpPr>
          <p:nvPr/>
        </p:nvSpPr>
        <p:spPr>
          <a:xfrm>
            <a:off x="2095500" y="3714750"/>
            <a:ext cx="723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HetSA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E89EC77-5F0E-420F-843A-0BF4D5D40BD8}"/>
              </a:ext>
            </a:extLst>
          </p:cNvPr>
          <p:cNvSpPr>
            <a:spLocks noGrp="1"/>
          </p:cNvSpPr>
          <p:nvPr/>
        </p:nvSpPr>
        <p:spPr>
          <a:xfrm>
            <a:off x="2819400" y="3724275"/>
            <a:ext cx="5572125" cy="209550"/>
          </a:xfrm>
          <a:prstGeom prst="rect">
            <a:avLst/>
          </a:prstGeom>
          <a:solidFill>
            <a:srgbClr val="E4E8E6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6348531-93A9-44AC-BEA6-1A85C9559156}"/>
              </a:ext>
            </a:extLst>
          </p:cNvPr>
          <p:cNvSpPr>
            <a:spLocks noGrp="1"/>
          </p:cNvSpPr>
          <p:nvPr/>
        </p:nvSpPr>
        <p:spPr>
          <a:xfrm>
            <a:off x="2819400" y="3724275"/>
            <a:ext cx="2865664" cy="209550"/>
          </a:xfrm>
          <a:prstGeom prst="rect">
            <a:avLst/>
          </a:prstGeom>
          <a:solidFill>
            <a:srgbClr val="087F88"/>
          </a:solidFill>
          <a:ln w="0">
            <a:noFill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E15ED6A-AC0D-46F7-ABED-E1BAF9C838AD}"/>
              </a:ext>
            </a:extLst>
          </p:cNvPr>
          <p:cNvSpPr>
            <a:spLocks noGrp="1"/>
          </p:cNvSpPr>
          <p:nvPr/>
        </p:nvSpPr>
        <p:spPr>
          <a:xfrm>
            <a:off x="8477250" y="3686175"/>
            <a:ext cx="990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108 秒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74FA887-8B8E-47FE-8972-64C80CF245E0}"/>
              </a:ext>
            </a:extLst>
          </p:cNvPr>
          <p:cNvSpPr>
            <a:spLocks noGrp="1"/>
          </p:cNvSpPr>
          <p:nvPr/>
        </p:nvSpPr>
        <p:spPr>
          <a:xfrm>
            <a:off x="2095500" y="4076700"/>
            <a:ext cx="723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rPr>
              <a:t>FedSA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8D54A4-56E9-4F33-B872-44B2F93F1739}"/>
              </a:ext>
            </a:extLst>
          </p:cNvPr>
          <p:cNvSpPr>
            <a:spLocks noGrp="1"/>
          </p:cNvSpPr>
          <p:nvPr/>
        </p:nvSpPr>
        <p:spPr>
          <a:xfrm>
            <a:off x="2819400" y="4086225"/>
            <a:ext cx="5572125" cy="209550"/>
          </a:xfrm>
          <a:prstGeom prst="rect">
            <a:avLst/>
          </a:prstGeom>
          <a:solidFill>
            <a:srgbClr val="E4E8E6"/>
          </a:solidFill>
          <a:ln w="0">
            <a:noFill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AF43921-C568-4F4F-949E-97675C7BDB2E}"/>
              </a:ext>
            </a:extLst>
          </p:cNvPr>
          <p:cNvSpPr>
            <a:spLocks noGrp="1"/>
          </p:cNvSpPr>
          <p:nvPr/>
        </p:nvSpPr>
        <p:spPr>
          <a:xfrm>
            <a:off x="2819400" y="4086225"/>
            <a:ext cx="4988379" cy="209550"/>
          </a:xfrm>
          <a:prstGeom prst="rect">
            <a:avLst/>
          </a:prstGeom>
          <a:solidFill>
            <a:srgbClr val="477F9B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B66C5E4-5EAB-477B-BCDA-3DF310288686}"/>
              </a:ext>
            </a:extLst>
          </p:cNvPr>
          <p:cNvSpPr>
            <a:spLocks noGrp="1"/>
          </p:cNvSpPr>
          <p:nvPr/>
        </p:nvSpPr>
        <p:spPr>
          <a:xfrm>
            <a:off x="8477250" y="4048125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188 秒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3A9CBD5-8E68-481D-BF93-D82A91B100DA}"/>
              </a:ext>
            </a:extLst>
          </p:cNvPr>
          <p:cNvSpPr>
            <a:spLocks noGrp="1"/>
          </p:cNvSpPr>
          <p:nvPr/>
        </p:nvSpPr>
        <p:spPr>
          <a:xfrm>
            <a:off x="9839325" y="3819525"/>
            <a:ext cx="1409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7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−42.5%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E695CE3-1E37-4163-BDBA-DF2638506CE7}"/>
              </a:ext>
            </a:extLst>
          </p:cNvPr>
          <p:cNvSpPr>
            <a:spLocks noGrp="1"/>
          </p:cNvSpPr>
          <p:nvPr/>
        </p:nvSpPr>
        <p:spPr>
          <a:xfrm>
            <a:off x="742950" y="4733925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通信量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6C0A4F3-1D25-442F-8BBF-FF13E05B550D}"/>
              </a:ext>
            </a:extLst>
          </p:cNvPr>
          <p:cNvSpPr>
            <a:spLocks noGrp="1"/>
          </p:cNvSpPr>
          <p:nvPr/>
        </p:nvSpPr>
        <p:spPr>
          <a:xfrm>
            <a:off x="2095500" y="4705350"/>
            <a:ext cx="723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HetSA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83A708C-0BC1-49A3-87D4-94DE3FACEDD6}"/>
              </a:ext>
            </a:extLst>
          </p:cNvPr>
          <p:cNvSpPr>
            <a:spLocks noGrp="1"/>
          </p:cNvSpPr>
          <p:nvPr/>
        </p:nvSpPr>
        <p:spPr>
          <a:xfrm>
            <a:off x="2819400" y="4714875"/>
            <a:ext cx="5572125" cy="209550"/>
          </a:xfrm>
          <a:prstGeom prst="rect">
            <a:avLst/>
          </a:prstGeom>
          <a:solidFill>
            <a:srgbClr val="E4E8E6"/>
          </a:solidFill>
          <a:ln w="0">
            <a:noFill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813548B-BE86-4776-B35C-D17256A4F959}"/>
              </a:ext>
            </a:extLst>
          </p:cNvPr>
          <p:cNvSpPr>
            <a:spLocks noGrp="1"/>
          </p:cNvSpPr>
          <p:nvPr/>
        </p:nvSpPr>
        <p:spPr>
          <a:xfrm>
            <a:off x="2819400" y="4714875"/>
            <a:ext cx="3230327" cy="209550"/>
          </a:xfrm>
          <a:prstGeom prst="rect">
            <a:avLst/>
          </a:prstGeom>
          <a:solidFill>
            <a:srgbClr val="087F88"/>
          </a:solidFill>
          <a:ln w="0">
            <a:noFill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475A051-C1A9-4641-A87F-5D62DBEDDE50}"/>
              </a:ext>
            </a:extLst>
          </p:cNvPr>
          <p:cNvSpPr>
            <a:spLocks noGrp="1"/>
          </p:cNvSpPr>
          <p:nvPr/>
        </p:nvSpPr>
        <p:spPr>
          <a:xfrm>
            <a:off x="8477250" y="4676775"/>
            <a:ext cx="990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429 MB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DAFC981-E396-4CF4-9B0B-6A43F0B50149}"/>
              </a:ext>
            </a:extLst>
          </p:cNvPr>
          <p:cNvSpPr>
            <a:spLocks noGrp="1"/>
          </p:cNvSpPr>
          <p:nvPr/>
        </p:nvSpPr>
        <p:spPr>
          <a:xfrm>
            <a:off x="2095500" y="5067300"/>
            <a:ext cx="723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rPr>
              <a:t>FedSA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570745B-BB36-4D0F-A920-D260240EF479}"/>
              </a:ext>
            </a:extLst>
          </p:cNvPr>
          <p:cNvSpPr>
            <a:spLocks noGrp="1"/>
          </p:cNvSpPr>
          <p:nvPr/>
        </p:nvSpPr>
        <p:spPr>
          <a:xfrm>
            <a:off x="2819400" y="5076825"/>
            <a:ext cx="5572125" cy="209550"/>
          </a:xfrm>
          <a:prstGeom prst="rect">
            <a:avLst/>
          </a:prstGeom>
          <a:solidFill>
            <a:srgbClr val="E4E8E6"/>
          </a:solidFill>
          <a:ln w="0">
            <a:noFill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F91B79C-036B-4AA2-9E0A-E384AE9A697A}"/>
              </a:ext>
            </a:extLst>
          </p:cNvPr>
          <p:cNvSpPr>
            <a:spLocks noGrp="1"/>
          </p:cNvSpPr>
          <p:nvPr/>
        </p:nvSpPr>
        <p:spPr>
          <a:xfrm>
            <a:off x="2819400" y="5076825"/>
            <a:ext cx="5135391" cy="209550"/>
          </a:xfrm>
          <a:prstGeom prst="rect">
            <a:avLst/>
          </a:prstGeom>
          <a:solidFill>
            <a:srgbClr val="477F9B"/>
          </a:solidFill>
          <a:ln w="0">
            <a:noFill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B27C7A8-76FE-4595-BA26-CE8CBCDBD7ED}"/>
              </a:ext>
            </a:extLst>
          </p:cNvPr>
          <p:cNvSpPr>
            <a:spLocks noGrp="1"/>
          </p:cNvSpPr>
          <p:nvPr/>
        </p:nvSpPr>
        <p:spPr>
          <a:xfrm>
            <a:off x="8477250" y="5038725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682 MB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89FA0DC-FD4D-4248-8E67-8311208604F8}"/>
              </a:ext>
            </a:extLst>
          </p:cNvPr>
          <p:cNvSpPr>
            <a:spLocks noGrp="1"/>
          </p:cNvSpPr>
          <p:nvPr/>
        </p:nvSpPr>
        <p:spPr>
          <a:xfrm>
            <a:off x="9839325" y="4810125"/>
            <a:ext cx="1409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7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−37.1%</a:t>
            </a:r>
          </a:p>
        </p:txBody>
      </p:sp>
    </p:spTree>
    <p:extLst>
      <p:ext uri="{BB962C8B-B14F-4D97-AF65-F5344CB8AC3E}">
        <p14:creationId xmlns:p14="http://schemas.microsoft.com/office/powerpoint/2010/main" val="1206473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AE783149-A8E5-4819-B10C-47CFA5F697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87F88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521D72-C058-4018-A7F1-53D147EEEE8C}"/>
              </a:ext>
            </a:extLst>
          </p:cNvPr>
          <p:cNvSpPr>
            <a:spLocks noGrp="1"/>
          </p:cNvSpPr>
          <p:nvPr/>
        </p:nvSpPr>
        <p:spPr>
          <a:xfrm>
            <a:off x="609600" y="238125"/>
            <a:ext cx="857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适用范围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B57B75-04DB-40D8-A369-834EE09848F9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29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客户端模型强，服务器单独持有的模型接近随机水平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EB7A08-C060-447F-A67E-9B059E8CBCE4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这是个性化客户端模型；客户端必须保留自己的 B。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2FC92D-8544-452E-B64F-E96776F9CD59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9525"/>
          </a:xfrm>
          <a:prstGeom prst="rect">
            <a:avLst/>
          </a:prstGeom>
          <a:solidFill>
            <a:srgbClr val="CCD4D4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186AFF-1C94-4EE0-9CB3-8EC712E823F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7239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联邦 LoRA 个性化  ·  HetSA-LoRA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8D5E1B-BBCC-401A-8831-B33F305403CA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050" b="1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3FC35B1-7BE2-4AA2-8A5C-42671723ADF0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4953000" cy="2790825"/>
          </a:xfrm>
          <a:prstGeom prst="rect">
            <a:avLst/>
          </a:prstGeom>
          <a:solidFill>
            <a:srgbClr val="DCEFEB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E52FCF-935E-47E8-81B2-D74CB7832E77}"/>
              </a:ext>
            </a:extLst>
          </p:cNvPr>
          <p:cNvSpPr>
            <a:spLocks noGrp="1"/>
          </p:cNvSpPr>
          <p:nvPr/>
        </p:nvSpPr>
        <p:spPr>
          <a:xfrm>
            <a:off x="857250" y="1752600"/>
            <a:ext cx="4610100" cy="2714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3937E2F-3F52-4016-ACEE-27BDE88DB900}"/>
              </a:ext>
            </a:extLst>
          </p:cNvPr>
          <p:cNvSpPr>
            <a:spLocks noGrp="1"/>
          </p:cNvSpPr>
          <p:nvPr/>
        </p:nvSpPr>
        <p:spPr>
          <a:xfrm>
            <a:off x="971550" y="1924050"/>
            <a:ext cx="4286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客户端本地推理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94F7022-A9EF-4A71-B20D-BD0174222887}"/>
              </a:ext>
            </a:extLst>
          </p:cNvPr>
          <p:cNvSpPr>
            <a:spLocks noGrp="1"/>
          </p:cNvSpPr>
          <p:nvPr/>
        </p:nvSpPr>
        <p:spPr>
          <a:xfrm>
            <a:off x="971550" y="2447925"/>
            <a:ext cx="4286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435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87F88"/>
                </a:solidFill>
                <a:latin typeface="Microsoft YaHei"/>
                <a:ea typeface="Microsoft YaHei"/>
                <a:cs typeface="Microsoft YaHei"/>
              </a:rPr>
              <a:t>94.11%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A4CF124-F3BF-4674-97E3-0C7A3AFBD3BE}"/>
              </a:ext>
            </a:extLst>
          </p:cNvPr>
          <p:cNvSpPr>
            <a:spLocks noGrp="1"/>
          </p:cNvSpPr>
          <p:nvPr/>
        </p:nvSpPr>
        <p:spPr>
          <a:xfrm>
            <a:off x="971550" y="3267075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共享 A + 本地 Bᵢ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2BAB48-735F-473B-B5D2-3F47532F7F6E}"/>
              </a:ext>
            </a:extLst>
          </p:cNvPr>
          <p:cNvSpPr>
            <a:spLocks noGrp="1"/>
          </p:cNvSpPr>
          <p:nvPr/>
        </p:nvSpPr>
        <p:spPr>
          <a:xfrm>
            <a:off x="971550" y="3810000"/>
            <a:ext cx="4286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客户端留出集 · 末五轮平均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50040B9-4038-4270-B4DA-C9847E57A6E8}"/>
              </a:ext>
            </a:extLst>
          </p:cNvPr>
          <p:cNvSpPr>
            <a:spLocks noGrp="1"/>
          </p:cNvSpPr>
          <p:nvPr/>
        </p:nvSpPr>
        <p:spPr>
          <a:xfrm>
            <a:off x="6477000" y="1714500"/>
            <a:ext cx="4953000" cy="2790825"/>
          </a:xfrm>
          <a:prstGeom prst="rect">
            <a:avLst/>
          </a:prstGeom>
          <a:solidFill>
            <a:srgbClr val="E3EDF2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318609C-BB2D-4DBB-BC87-37E11CF78393}"/>
              </a:ext>
            </a:extLst>
          </p:cNvPr>
          <p:cNvSpPr>
            <a:spLocks noGrp="1"/>
          </p:cNvSpPr>
          <p:nvPr/>
        </p:nvSpPr>
        <p:spPr>
          <a:xfrm>
            <a:off x="6648450" y="1752600"/>
            <a:ext cx="4610100" cy="2714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63AAE0F-FF01-4F7D-94E2-C700417B9C4B}"/>
              </a:ext>
            </a:extLst>
          </p:cNvPr>
          <p:cNvSpPr>
            <a:spLocks noGrp="1"/>
          </p:cNvSpPr>
          <p:nvPr/>
        </p:nvSpPr>
        <p:spPr>
          <a:xfrm>
            <a:off x="6762750" y="1924050"/>
            <a:ext cx="4286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rPr>
              <a:t>服务器单独推理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09213C7-38BE-418D-A4A0-42389C6D81A6}"/>
              </a:ext>
            </a:extLst>
          </p:cNvPr>
          <p:cNvSpPr>
            <a:spLocks noGrp="1"/>
          </p:cNvSpPr>
          <p:nvPr/>
        </p:nvSpPr>
        <p:spPr>
          <a:xfrm>
            <a:off x="6762750" y="2447925"/>
            <a:ext cx="42862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4350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477F9B"/>
                </a:solidFill>
                <a:latin typeface="Microsoft YaHei"/>
                <a:ea typeface="Microsoft YaHei"/>
                <a:cs typeface="Microsoft YaHei"/>
              </a:rPr>
              <a:t>25.48%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812CC51-7C32-4E7C-977A-3FCD2EA4A6AA}"/>
              </a:ext>
            </a:extLst>
          </p:cNvPr>
          <p:cNvSpPr>
            <a:spLocks noGrp="1"/>
          </p:cNvSpPr>
          <p:nvPr/>
        </p:nvSpPr>
        <p:spPr>
          <a:xfrm>
            <a:off x="6762750" y="3267075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共享 A + 没有 B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66CEB82-7E94-46E3-8FB4-7C4250150364}"/>
              </a:ext>
            </a:extLst>
          </p:cNvPr>
          <p:cNvSpPr>
            <a:spLocks noGrp="1"/>
          </p:cNvSpPr>
          <p:nvPr/>
        </p:nvSpPr>
        <p:spPr>
          <a:xfrm>
            <a:off x="6762750" y="3810000"/>
            <a:ext cx="4286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全量评估 · 第 30 轮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0491025-21BB-4266-9EB3-FABE31934062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10744200" cy="819150"/>
          </a:xfrm>
          <a:prstGeom prst="rect">
            <a:avLst/>
          </a:prstGeom>
          <a:solidFill>
            <a:srgbClr val="F6EACF"/>
          </a:solidFill>
          <a:ln w="0"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1D74EF6-D9FE-47EB-9085-D2148F39BCD6}"/>
              </a:ext>
            </a:extLst>
          </p:cNvPr>
          <p:cNvSpPr>
            <a:spLocks noGrp="1"/>
          </p:cNvSpPr>
          <p:nvPr/>
        </p:nvSpPr>
        <p:spPr>
          <a:xfrm>
            <a:off x="914400" y="4953000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endParaRPr sz="1350" b="1" dirty="0">
              <a:solidFill>
                <a:srgbClr val="172B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682A65-88F5-4510-A668-43425A2671AD}"/>
              </a:ext>
            </a:extLst>
          </p:cNvPr>
          <p:cNvSpPr>
            <a:spLocks noGrp="1"/>
          </p:cNvSpPr>
          <p:nvPr/>
        </p:nvSpPr>
        <p:spPr>
          <a:xfrm>
            <a:off x="914400" y="5324475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A6B73"/>
                </a:solidFill>
                <a:latin typeface="Microsoft YaHei"/>
                <a:ea typeface="Microsoft YaHei"/>
                <a:cs typeface="Microsoft YaHei"/>
              </a:rPr>
              <a:t>本地和服务器数字的评估口径不同；它们用于说明部署位置，不是同条件模型排名。</a:t>
            </a:r>
          </a:p>
        </p:txBody>
      </p:sp>
    </p:spTree>
    <p:extLst>
      <p:ext uri="{BB962C8B-B14F-4D97-AF65-F5344CB8AC3E}">
        <p14:creationId xmlns:p14="http://schemas.microsoft.com/office/powerpoint/2010/main" val="3522667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1605</Words>
  <Application>Microsoft Office PowerPoint</Application>
  <DocSecurity>0</DocSecurity>
  <PresentationFormat>宽屏</PresentationFormat>
  <Paragraphs>285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高手 原神</cp:lastModifiedBy>
  <cp:revision>1</cp:revision>
  <dcterms:created xsi:type="dcterms:W3CDTF">2026-09-28T12:02:59Z</dcterms:created>
  <dcterms:modified xsi:type="dcterms:W3CDTF">2026-09-28T12:59:54Z</dcterms:modified>
</cp:coreProperties>
</file>